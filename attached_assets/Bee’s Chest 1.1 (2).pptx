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1D4C08-7A23-436F-B387-1174914BCB76}">
  <a:tblStyle styleId="{B31D4C08-7A23-436F-B387-1174914BCB7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2"/>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685800" y="2130425"/>
            <a:ext cx="7772400" cy="14700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3"/>
          <p:cNvSpPr txBox="1"/>
          <p:nvPr>
            <p:ph idx="1" type="subTitle"/>
          </p:nvPr>
        </p:nvSpPr>
        <p:spPr>
          <a:xfrm>
            <a:off x="1371600" y="3886200"/>
            <a:ext cx="6400800" cy="1752600"/>
          </a:xfrm>
          <a:prstGeom prst="rect">
            <a:avLst/>
          </a:prstGeom>
          <a:noFill/>
          <a:ln>
            <a:noFill/>
          </a:ln>
        </p:spPr>
        <p:txBody>
          <a:bodyPr anchorCtr="0" anchor="t" bIns="91425" lIns="91425" spcFirstLastPara="1" rIns="91425" wrap="square" tIns="91425">
            <a:noAutofit/>
          </a:bodyPr>
          <a:lstStyle>
            <a:lvl1pPr indent="0" lvl="0" mar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indent="0" lvl="1" marL="457200"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indent="0" lvl="2" marL="914400"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indent="0" lvl="3" marL="13716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indent="0" lvl="4" marL="18288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indent="0" lvl="5" marL="22860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4406900"/>
            <a:ext cx="7772400" cy="136207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dk1"/>
              </a:buClr>
              <a:buSzPts val="1400"/>
              <a:buFont typeface="Calibri"/>
              <a:buNone/>
              <a:defRPr b="1" i="0" sz="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9" name="Google Shape;29;p4"/>
          <p:cNvSpPr txBox="1"/>
          <p:nvPr>
            <p:ph idx="1" type="body"/>
          </p:nvPr>
        </p:nvSpPr>
        <p:spPr>
          <a:xfrm>
            <a:off x="722313" y="2906713"/>
            <a:ext cx="7772400" cy="1500187"/>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00"/>
              </a:spcBef>
              <a:spcAft>
                <a:spcPts val="0"/>
              </a:spcAft>
              <a:buClr>
                <a:srgbClr val="888888"/>
              </a:buClr>
              <a:buSzPts val="32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2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24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2000"/>
              <a:buFont typeface="Arial"/>
              <a:buNone/>
              <a:defRPr b="0" i="0" sz="1400" u="none" cap="none" strike="noStrike">
                <a:solidFill>
                  <a:srgbClr val="888888"/>
                </a:solidFill>
                <a:latin typeface="Calibri"/>
                <a:ea typeface="Calibri"/>
                <a:cs typeface="Calibri"/>
                <a:sym typeface="Calibri"/>
              </a:defRPr>
            </a:lvl9pPr>
          </a:lstStyle>
          <a:p/>
        </p:txBody>
      </p:sp>
      <p:sp>
        <p:nvSpPr>
          <p:cNvPr id="30" name="Google Shape;30;p4"/>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4"/>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5" name="Google Shape;35;p5"/>
          <p:cNvSpPr txBox="1"/>
          <p:nvPr>
            <p:ph idx="1" type="body"/>
          </p:nvPr>
        </p:nvSpPr>
        <p:spPr>
          <a:xfrm>
            <a:off x="457200" y="1600200"/>
            <a:ext cx="4038600" cy="4525963"/>
          </a:xfrm>
          <a:prstGeom prst="rect">
            <a:avLst/>
          </a:prstGeom>
          <a:noFill/>
          <a:ln>
            <a:noFill/>
          </a:ln>
        </p:spPr>
        <p:txBody>
          <a:bodyPr anchorCtr="0" anchor="t" bIns="91425" lIns="91425" spcFirstLastPara="1" rIns="91425" wrap="square" tIns="91425">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5"/>
          <p:cNvSpPr txBox="1"/>
          <p:nvPr>
            <p:ph idx="2" type="body"/>
          </p:nvPr>
        </p:nvSpPr>
        <p:spPr>
          <a:xfrm>
            <a:off x="4648200" y="1600200"/>
            <a:ext cx="4038600" cy="4525963"/>
          </a:xfrm>
          <a:prstGeom prst="rect">
            <a:avLst/>
          </a:prstGeom>
          <a:noFill/>
          <a:ln>
            <a:noFill/>
          </a:ln>
        </p:spPr>
        <p:txBody>
          <a:bodyPr anchorCtr="0" anchor="t" bIns="91425" lIns="91425" spcFirstLastPara="1" rIns="91425" wrap="square" tIns="91425">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6"/>
          <p:cNvSpPr txBox="1"/>
          <p:nvPr>
            <p:ph idx="1" type="body"/>
          </p:nvPr>
        </p:nvSpPr>
        <p:spPr>
          <a:xfrm>
            <a:off x="457200" y="1535113"/>
            <a:ext cx="4040188" cy="639762"/>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dk1"/>
              </a:buClr>
              <a:buSzPts val="32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8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24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9pPr>
          </a:lstStyle>
          <a:p/>
        </p:txBody>
      </p:sp>
      <p:sp>
        <p:nvSpPr>
          <p:cNvPr id="43" name="Google Shape;43;p6"/>
          <p:cNvSpPr txBox="1"/>
          <p:nvPr>
            <p:ph idx="2" type="body"/>
          </p:nvPr>
        </p:nvSpPr>
        <p:spPr>
          <a:xfrm>
            <a:off x="457200" y="2174875"/>
            <a:ext cx="4040188" cy="3951288"/>
          </a:xfrm>
          <a:prstGeom prst="rect">
            <a:avLst/>
          </a:prstGeom>
          <a:noFill/>
          <a:ln>
            <a:noFill/>
          </a:ln>
        </p:spPr>
        <p:txBody>
          <a:bodyPr anchorCtr="0" anchor="t" bIns="91425" lIns="91425" spcFirstLastPara="1" rIns="91425" wrap="square" tIns="91425">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4" name="Google Shape;44;p6"/>
          <p:cNvSpPr txBox="1"/>
          <p:nvPr>
            <p:ph idx="3" type="body"/>
          </p:nvPr>
        </p:nvSpPr>
        <p:spPr>
          <a:xfrm>
            <a:off x="4645025" y="1535113"/>
            <a:ext cx="4041775" cy="639762"/>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dk1"/>
              </a:buClr>
              <a:buSzPts val="32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8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24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2000"/>
              <a:buFont typeface="Arial"/>
              <a:buNone/>
              <a:defRPr b="1" i="0" sz="1600" u="none" cap="none" strike="noStrike">
                <a:solidFill>
                  <a:schemeClr val="dk1"/>
                </a:solidFill>
                <a:latin typeface="Calibri"/>
                <a:ea typeface="Calibri"/>
                <a:cs typeface="Calibri"/>
                <a:sym typeface="Calibri"/>
              </a:defRPr>
            </a:lvl9pPr>
          </a:lstStyle>
          <a:p/>
        </p:txBody>
      </p:sp>
      <p:sp>
        <p:nvSpPr>
          <p:cNvPr id="45" name="Google Shape;45;p6"/>
          <p:cNvSpPr txBox="1"/>
          <p:nvPr>
            <p:ph idx="4" type="body"/>
          </p:nvPr>
        </p:nvSpPr>
        <p:spPr>
          <a:xfrm>
            <a:off x="4645025" y="2174875"/>
            <a:ext cx="4041775" cy="3951288"/>
          </a:xfrm>
          <a:prstGeom prst="rect">
            <a:avLst/>
          </a:prstGeom>
          <a:noFill/>
          <a:ln>
            <a:noFill/>
          </a:ln>
        </p:spPr>
        <p:txBody>
          <a:bodyPr anchorCtr="0" anchor="t" bIns="91425" lIns="91425" spcFirstLastPara="1" rIns="91425" wrap="square" tIns="91425">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6" name="Google Shape;46;p6"/>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6"/>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1" name="Google Shape;51;p7"/>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7"/>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1"/>
              </a:buClr>
              <a:buSzPts val="1400"/>
              <a:buFont typeface="Calibri"/>
              <a:buNone/>
              <a:defRPr b="1" i="0" sz="2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280"/>
              </a:spcBef>
              <a:spcAft>
                <a:spcPts val="0"/>
              </a:spcAft>
              <a:buClr>
                <a:schemeClr val="dk1"/>
              </a:buClr>
              <a:buSzPts val="32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28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24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1"/>
              </a:buClr>
              <a:buSzPts val="1400"/>
              <a:buFont typeface="Calibri"/>
              <a:buNone/>
              <a:defRPr b="1" i="0" sz="2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7" name="Google Shape;67;p10"/>
          <p:cNvSpPr/>
          <p:nvPr>
            <p:ph idx="2" type="pic"/>
          </p:nvPr>
        </p:nvSpPr>
        <p:spPr>
          <a:xfrm>
            <a:off x="1792288" y="612775"/>
            <a:ext cx="5486400" cy="4114800"/>
          </a:xfrm>
          <a:prstGeom prst="rect">
            <a:avLst/>
          </a:prstGeom>
          <a:noFill/>
          <a:ln>
            <a:noFill/>
          </a:ln>
        </p:spPr>
        <p:txBody>
          <a:bodyPr anchorCtr="0" anchor="t" bIns="91425" lIns="91425" spcFirstLastPara="1" rIns="91425" wrap="square" tIns="91425">
            <a:noAutofit/>
          </a:bodyPr>
          <a:lstStyle>
            <a:lvl1pPr indent="0" lvl="0" marL="0" marR="0" rtl="0" algn="l">
              <a:spcBef>
                <a:spcPts val="640"/>
              </a:spcBef>
              <a:spcAft>
                <a:spcPts val="0"/>
              </a:spcAft>
              <a:buClr>
                <a:schemeClr val="dk1"/>
              </a:buClr>
              <a:buSzPts val="1400"/>
              <a:buFont typeface="Arial"/>
              <a:buNone/>
              <a:defRPr b="0" i="0" sz="3200" u="none" cap="none" strike="noStrike">
                <a:solidFill>
                  <a:schemeClr val="dk1"/>
                </a:solidFill>
                <a:latin typeface="Calibri"/>
                <a:ea typeface="Calibri"/>
                <a:cs typeface="Calibri"/>
                <a:sym typeface="Calibri"/>
              </a:defRPr>
            </a:lvl1pPr>
            <a:lvl2pPr indent="0" lvl="1" marL="457200" marR="0" rtl="0" algn="l">
              <a:spcBef>
                <a:spcPts val="560"/>
              </a:spcBef>
              <a:spcAft>
                <a:spcPts val="0"/>
              </a:spcAft>
              <a:buClr>
                <a:schemeClr val="dk1"/>
              </a:buClr>
              <a:buSzPts val="1400"/>
              <a:buFont typeface="Arial"/>
              <a:buNone/>
              <a:defRPr b="0" i="0" sz="2800" u="none" cap="none" strike="noStrike">
                <a:solidFill>
                  <a:schemeClr val="dk1"/>
                </a:solidFill>
                <a:latin typeface="Calibri"/>
                <a:ea typeface="Calibri"/>
                <a:cs typeface="Calibri"/>
                <a:sym typeface="Calibri"/>
              </a:defRPr>
            </a:lvl2pPr>
            <a:lvl3pPr indent="0" lvl="2" marL="914400" marR="0" rtl="0" algn="l">
              <a:spcBef>
                <a:spcPts val="480"/>
              </a:spcBef>
              <a:spcAft>
                <a:spcPts val="0"/>
              </a:spcAft>
              <a:buClr>
                <a:schemeClr val="dk1"/>
              </a:buClr>
              <a:buSzPts val="1400"/>
              <a:buFont typeface="Arial"/>
              <a:buNone/>
              <a:defRPr b="0" i="0" sz="2400" u="none" cap="none" strike="noStrike">
                <a:solidFill>
                  <a:schemeClr val="dk1"/>
                </a:solidFill>
                <a:latin typeface="Calibri"/>
                <a:ea typeface="Calibri"/>
                <a:cs typeface="Calibri"/>
                <a:sym typeface="Calibri"/>
              </a:defRPr>
            </a:lvl3pPr>
            <a:lvl4pPr indent="0" lvl="3" marL="1371600" marR="0" rtl="0" algn="l">
              <a:spcBef>
                <a:spcPts val="400"/>
              </a:spcBef>
              <a:spcAft>
                <a:spcPts val="0"/>
              </a:spcAft>
              <a:buClr>
                <a:schemeClr val="dk1"/>
              </a:buClr>
              <a:buSzPts val="1400"/>
              <a:buFont typeface="Arial"/>
              <a:buNone/>
              <a:defRPr b="0" i="0" sz="2000" u="none" cap="none" strike="noStrike">
                <a:solidFill>
                  <a:schemeClr val="dk1"/>
                </a:solidFill>
                <a:latin typeface="Calibri"/>
                <a:ea typeface="Calibri"/>
                <a:cs typeface="Calibri"/>
                <a:sym typeface="Calibri"/>
              </a:defRPr>
            </a:lvl4pPr>
            <a:lvl5pPr indent="0" lvl="4" marL="1828800" marR="0" rtl="0" algn="l">
              <a:spcBef>
                <a:spcPts val="400"/>
              </a:spcBef>
              <a:spcAft>
                <a:spcPts val="0"/>
              </a:spcAft>
              <a:buClr>
                <a:schemeClr val="dk1"/>
              </a:buClr>
              <a:buSzPts val="1400"/>
              <a:buFont typeface="Arial"/>
              <a:buNone/>
              <a:defRPr b="0" i="0" sz="2000" u="none" cap="none" strike="noStrike">
                <a:solidFill>
                  <a:schemeClr val="dk1"/>
                </a:solidFill>
                <a:latin typeface="Calibri"/>
                <a:ea typeface="Calibri"/>
                <a:cs typeface="Calibri"/>
                <a:sym typeface="Calibri"/>
              </a:defRPr>
            </a:lvl5pPr>
            <a:lvl6pPr indent="0" lvl="5" marL="2286000" marR="0" rtl="0" algn="l">
              <a:spcBef>
                <a:spcPts val="400"/>
              </a:spcBef>
              <a:spcAft>
                <a:spcPts val="0"/>
              </a:spcAft>
              <a:buClr>
                <a:schemeClr val="dk1"/>
              </a:buClr>
              <a:buSzPts val="1400"/>
              <a:buFont typeface="Arial"/>
              <a:buNone/>
              <a:defRPr b="0" i="0" sz="2000" u="none" cap="none" strike="noStrike">
                <a:solidFill>
                  <a:schemeClr val="dk1"/>
                </a:solidFill>
                <a:latin typeface="Calibri"/>
                <a:ea typeface="Calibri"/>
                <a:cs typeface="Calibri"/>
                <a:sym typeface="Calibri"/>
              </a:defRPr>
            </a:lvl6pPr>
            <a:lvl7pPr indent="0" lvl="6" marL="2743200" marR="0" rtl="0" algn="l">
              <a:spcBef>
                <a:spcPts val="400"/>
              </a:spcBef>
              <a:spcAft>
                <a:spcPts val="0"/>
              </a:spcAft>
              <a:buClr>
                <a:schemeClr val="dk1"/>
              </a:buClr>
              <a:buSzPts val="1400"/>
              <a:buFont typeface="Arial"/>
              <a:buNone/>
              <a:defRPr b="0" i="0" sz="2000" u="none" cap="none" strike="noStrike">
                <a:solidFill>
                  <a:schemeClr val="dk1"/>
                </a:solidFill>
                <a:latin typeface="Calibri"/>
                <a:ea typeface="Calibri"/>
                <a:cs typeface="Calibri"/>
                <a:sym typeface="Calibri"/>
              </a:defRPr>
            </a:lvl7pPr>
            <a:lvl8pPr indent="0" lvl="7" marL="3200400" marR="0" rtl="0" algn="l">
              <a:spcBef>
                <a:spcPts val="400"/>
              </a:spcBef>
              <a:spcAft>
                <a:spcPts val="0"/>
              </a:spcAft>
              <a:buClr>
                <a:schemeClr val="dk1"/>
              </a:buClr>
              <a:buSzPts val="1400"/>
              <a:buFont typeface="Arial"/>
              <a:buNone/>
              <a:defRPr b="0" i="0" sz="2000" u="none" cap="none" strike="noStrike">
                <a:solidFill>
                  <a:schemeClr val="dk1"/>
                </a:solidFill>
                <a:latin typeface="Calibri"/>
                <a:ea typeface="Calibri"/>
                <a:cs typeface="Calibri"/>
                <a:sym typeface="Calibri"/>
              </a:defRPr>
            </a:lvl8pPr>
            <a:lvl9pPr indent="0" lvl="8" marL="3657600" marR="0" rtl="0" algn="l">
              <a:spcBef>
                <a:spcPts val="400"/>
              </a:spcBef>
              <a:spcAft>
                <a:spcPts val="0"/>
              </a:spcAft>
              <a:buClr>
                <a:schemeClr val="dk1"/>
              </a:buClr>
              <a:buSzPts val="14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1792288" y="5367338"/>
            <a:ext cx="5486400" cy="804862"/>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280"/>
              </a:spcBef>
              <a:spcAft>
                <a:spcPts val="0"/>
              </a:spcAft>
              <a:buClr>
                <a:schemeClr val="dk1"/>
              </a:buClr>
              <a:buSzPts val="32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28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24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2000"/>
              <a:buFont typeface="Arial"/>
              <a:buNone/>
              <a:defRPr b="0" i="0" sz="900" u="none" cap="none" strike="noStrike">
                <a:solidFill>
                  <a:schemeClr val="dk1"/>
                </a:solidFill>
                <a:latin typeface="Calibri"/>
                <a:ea typeface="Calibri"/>
                <a:cs typeface="Calibri"/>
                <a:sym typeface="Calibri"/>
              </a:defRPr>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4" name="Google Shape;74;p11"/>
          <p:cNvSpPr txBox="1"/>
          <p:nvPr>
            <p:ph idx="1" type="body"/>
          </p:nvPr>
        </p:nvSpPr>
        <p:spPr>
          <a:xfrm rot="5400000">
            <a:off x="2309018" y="-251619"/>
            <a:ext cx="4525963" cy="8229600"/>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7" y="2171700"/>
            <a:ext cx="5851525" cy="20574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0" name="Google Shape;80;p12"/>
          <p:cNvSpPr txBox="1"/>
          <p:nvPr>
            <p:ph idx="1" type="body"/>
          </p:nvPr>
        </p:nvSpPr>
        <p:spPr>
          <a:xfrm rot="5400000">
            <a:off x="541338" y="190501"/>
            <a:ext cx="5851525" cy="6019800"/>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8.png"/><Relationship Id="rId11" Type="http://schemas.openxmlformats.org/officeDocument/2006/relationships/image" Target="../media/image12.png"/><Relationship Id="rId10" Type="http://schemas.openxmlformats.org/officeDocument/2006/relationships/image" Target="../media/image26.jpg"/><Relationship Id="rId9"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7.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5.jpg"/><Relationship Id="rId11" Type="http://schemas.openxmlformats.org/officeDocument/2006/relationships/image" Target="../media/image16.png"/><Relationship Id="rId10" Type="http://schemas.openxmlformats.org/officeDocument/2006/relationships/image" Target="../media/image25.png"/><Relationship Id="rId9" Type="http://schemas.openxmlformats.org/officeDocument/2006/relationships/image" Target="../media/image23.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3.png"/><Relationship Id="rId8"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5.jpg"/><Relationship Id="rId7" Type="http://schemas.openxmlformats.org/officeDocument/2006/relationships/image" Target="../media/image7.png"/><Relationship Id="rId8"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2.png"/><Relationship Id="rId9" Type="http://schemas.openxmlformats.org/officeDocument/2006/relationships/hyperlink" Target="http://www.beeschest.com/" TargetMode="External"/><Relationship Id="rId5" Type="http://schemas.openxmlformats.org/officeDocument/2006/relationships/image" Target="../media/image21.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ph idx="1" type="body"/>
          </p:nvPr>
        </p:nvPicPr>
        <p:blipFill rotWithShape="1">
          <a:blip r:embed="rId3">
            <a:alphaModFix/>
          </a:blip>
          <a:srcRect b="0" l="0" r="0" t="0"/>
          <a:stretch/>
        </p:blipFill>
        <p:spPr>
          <a:xfrm>
            <a:off x="33551" y="-57474"/>
            <a:ext cx="8958049" cy="6722771"/>
          </a:xfrm>
          <a:prstGeom prst="rect">
            <a:avLst/>
          </a:prstGeom>
          <a:noFill/>
          <a:ln>
            <a:noFill/>
          </a:ln>
        </p:spPr>
      </p:pic>
      <p:sp>
        <p:nvSpPr>
          <p:cNvPr id="89" name="Google Shape;89;p13"/>
          <p:cNvSpPr/>
          <p:nvPr/>
        </p:nvSpPr>
        <p:spPr>
          <a:xfrm>
            <a:off x="3352800" y="1295400"/>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3"/>
          <p:cNvSpPr txBox="1"/>
          <p:nvPr/>
        </p:nvSpPr>
        <p:spPr>
          <a:xfrm>
            <a:off x="3352800" y="1295401"/>
            <a:ext cx="22860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Font typeface="Arial"/>
              <a:buNone/>
            </a:pPr>
            <a:r>
              <a:rPr b="1" i="0" lang="en-US" sz="2400" u="none" cap="none" strike="noStrike">
                <a:solidFill>
                  <a:schemeClr val="dk1"/>
                </a:solidFill>
                <a:latin typeface="Arial"/>
                <a:ea typeface="Arial"/>
                <a:cs typeface="Arial"/>
                <a:sym typeface="Arial"/>
              </a:rPr>
              <a:t>Bee’s Chest</a:t>
            </a:r>
            <a:endParaRPr b="1" i="0" sz="2400" u="none" cap="none" strike="noStrike">
              <a:solidFill>
                <a:schemeClr val="dk1"/>
              </a:solidFill>
              <a:latin typeface="Arial"/>
              <a:ea typeface="Arial"/>
              <a:cs typeface="Arial"/>
              <a:sym typeface="Arial"/>
            </a:endParaRPr>
          </a:p>
        </p:txBody>
      </p:sp>
      <p:pic>
        <p:nvPicPr>
          <p:cNvPr descr="http://www.mylatestdistraction.com/mylatestdistraction/wp-content/uploads/2010/01/bumble_bee.png" id="91" name="Google Shape;91;p13"/>
          <p:cNvPicPr preferRelativeResize="0"/>
          <p:nvPr/>
        </p:nvPicPr>
        <p:blipFill rotWithShape="1">
          <a:blip r:embed="rId4">
            <a:alphaModFix/>
          </a:blip>
          <a:srcRect b="0" l="0" r="0" t="0"/>
          <a:stretch/>
        </p:blipFill>
        <p:spPr>
          <a:xfrm>
            <a:off x="4038600" y="2667000"/>
            <a:ext cx="998891" cy="838200"/>
          </a:xfrm>
          <a:prstGeom prst="rect">
            <a:avLst/>
          </a:prstGeom>
          <a:noFill/>
          <a:ln>
            <a:noFill/>
          </a:ln>
        </p:spPr>
      </p:pic>
      <p:pic>
        <p:nvPicPr>
          <p:cNvPr id="92" name="Google Shape;92;p13"/>
          <p:cNvPicPr preferRelativeResize="0"/>
          <p:nvPr/>
        </p:nvPicPr>
        <p:blipFill rotWithShape="1">
          <a:blip r:embed="rId5">
            <a:alphaModFix/>
          </a:blip>
          <a:srcRect b="0" l="0" r="0" t="0"/>
          <a:stretch/>
        </p:blipFill>
        <p:spPr>
          <a:xfrm>
            <a:off x="3429001" y="3448051"/>
            <a:ext cx="2108199" cy="1581149"/>
          </a:xfrm>
          <a:prstGeom prst="rect">
            <a:avLst/>
          </a:prstGeom>
          <a:noFill/>
          <a:ln>
            <a:noFill/>
          </a:ln>
        </p:spPr>
      </p:pic>
      <p:sp>
        <p:nvSpPr>
          <p:cNvPr id="93" name="Google Shape;93;p13"/>
          <p:cNvSpPr txBox="1"/>
          <p:nvPr/>
        </p:nvSpPr>
        <p:spPr>
          <a:xfrm>
            <a:off x="6019800" y="2971800"/>
            <a:ext cx="27432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Click on App</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4"/>
          <p:cNvPicPr preferRelativeResize="0"/>
          <p:nvPr>
            <p:ph idx="1" type="body"/>
          </p:nvPr>
        </p:nvPicPr>
        <p:blipFill rotWithShape="1">
          <a:blip r:embed="rId3">
            <a:alphaModFix/>
          </a:blip>
          <a:srcRect b="0" l="0" r="0" t="0"/>
          <a:stretch/>
        </p:blipFill>
        <p:spPr>
          <a:xfrm>
            <a:off x="33551" y="-57474"/>
            <a:ext cx="8958049" cy="6722771"/>
          </a:xfrm>
          <a:prstGeom prst="rect">
            <a:avLst/>
          </a:prstGeom>
          <a:noFill/>
          <a:ln>
            <a:noFill/>
          </a:ln>
        </p:spPr>
      </p:pic>
      <p:sp>
        <p:nvSpPr>
          <p:cNvPr id="99" name="Google Shape;99;p14"/>
          <p:cNvSpPr/>
          <p:nvPr/>
        </p:nvSpPr>
        <p:spPr>
          <a:xfrm>
            <a:off x="3352800" y="1295400"/>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http://www.mylatestdistraction.com/mylatestdistraction/wp-content/uploads/2010/01/bumble_bee.png" id="100" name="Google Shape;100;p14"/>
          <p:cNvPicPr preferRelativeResize="0"/>
          <p:nvPr/>
        </p:nvPicPr>
        <p:blipFill rotWithShape="1">
          <a:blip r:embed="rId4">
            <a:alphaModFix/>
          </a:blip>
          <a:srcRect b="0" l="0" r="0" t="0"/>
          <a:stretch/>
        </p:blipFill>
        <p:spPr>
          <a:xfrm>
            <a:off x="4038599" y="1371600"/>
            <a:ext cx="998891" cy="838200"/>
          </a:xfrm>
          <a:prstGeom prst="rect">
            <a:avLst/>
          </a:prstGeom>
          <a:noFill/>
          <a:ln>
            <a:noFill/>
          </a:ln>
        </p:spPr>
      </p:pic>
      <p:pic>
        <p:nvPicPr>
          <p:cNvPr id="101" name="Google Shape;101;p14"/>
          <p:cNvPicPr preferRelativeResize="0"/>
          <p:nvPr/>
        </p:nvPicPr>
        <p:blipFill rotWithShape="1">
          <a:blip r:embed="rId5">
            <a:alphaModFix/>
          </a:blip>
          <a:srcRect b="50417" l="49078" r="41318" t="43750"/>
          <a:stretch/>
        </p:blipFill>
        <p:spPr>
          <a:xfrm>
            <a:off x="3913204" y="2438400"/>
            <a:ext cx="1249680" cy="426720"/>
          </a:xfrm>
          <a:prstGeom prst="rect">
            <a:avLst/>
          </a:prstGeom>
          <a:noFill/>
          <a:ln>
            <a:noFill/>
          </a:ln>
        </p:spPr>
      </p:pic>
      <p:pic>
        <p:nvPicPr>
          <p:cNvPr id="102" name="Google Shape;102;p14"/>
          <p:cNvPicPr preferRelativeResize="0"/>
          <p:nvPr/>
        </p:nvPicPr>
        <p:blipFill rotWithShape="1">
          <a:blip r:embed="rId6">
            <a:alphaModFix/>
          </a:blip>
          <a:srcRect b="23958" l="14861" r="49785" t="29133"/>
          <a:stretch/>
        </p:blipFill>
        <p:spPr>
          <a:xfrm>
            <a:off x="3352800" y="3276600"/>
            <a:ext cx="2225619" cy="1660257"/>
          </a:xfrm>
          <a:prstGeom prst="rect">
            <a:avLst/>
          </a:prstGeom>
          <a:noFill/>
          <a:ln>
            <a:noFill/>
          </a:ln>
        </p:spPr>
      </p:pic>
      <p:sp>
        <p:nvSpPr>
          <p:cNvPr id="103" name="Google Shape;103;p14"/>
          <p:cNvSpPr txBox="1"/>
          <p:nvPr/>
        </p:nvSpPr>
        <p:spPr>
          <a:xfrm>
            <a:off x="6019800" y="2971800"/>
            <a:ext cx="2743200" cy="341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Login through LinkedIn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Register on LinkedIn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-track LI sign up to see how many people we converted</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How to address same person with multiple profiles to consolidate  (if we enable FB and Twitter login)</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5"/>
          <p:cNvPicPr preferRelativeResize="0"/>
          <p:nvPr>
            <p:ph idx="1" type="body"/>
          </p:nvPr>
        </p:nvPicPr>
        <p:blipFill rotWithShape="1">
          <a:blip r:embed="rId3">
            <a:alphaModFix/>
          </a:blip>
          <a:srcRect b="0" l="0" r="0" t="0"/>
          <a:stretch/>
        </p:blipFill>
        <p:spPr>
          <a:xfrm>
            <a:off x="33551" y="-57474"/>
            <a:ext cx="8958049" cy="6722771"/>
          </a:xfrm>
          <a:prstGeom prst="rect">
            <a:avLst/>
          </a:prstGeom>
          <a:noFill/>
          <a:ln>
            <a:noFill/>
          </a:ln>
        </p:spPr>
      </p:pic>
      <p:sp>
        <p:nvSpPr>
          <p:cNvPr id="109" name="Google Shape;109;p15"/>
          <p:cNvSpPr/>
          <p:nvPr/>
        </p:nvSpPr>
        <p:spPr>
          <a:xfrm>
            <a:off x="3352800" y="1295400"/>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http://www.mylatestdistraction.com/mylatestdistraction/wp-content/uploads/2010/01/bumble_bee.png" id="110" name="Google Shape;110;p15"/>
          <p:cNvPicPr preferRelativeResize="0"/>
          <p:nvPr/>
        </p:nvPicPr>
        <p:blipFill rotWithShape="1">
          <a:blip r:embed="rId4">
            <a:alphaModFix/>
          </a:blip>
          <a:srcRect b="0" l="0" r="0" t="0"/>
          <a:stretch/>
        </p:blipFill>
        <p:spPr>
          <a:xfrm>
            <a:off x="4038599" y="1371600"/>
            <a:ext cx="998891" cy="838200"/>
          </a:xfrm>
          <a:prstGeom prst="rect">
            <a:avLst/>
          </a:prstGeom>
          <a:noFill/>
          <a:ln>
            <a:noFill/>
          </a:ln>
        </p:spPr>
      </p:pic>
      <p:pic>
        <p:nvPicPr>
          <p:cNvPr id="111" name="Google Shape;111;p15"/>
          <p:cNvPicPr preferRelativeResize="0"/>
          <p:nvPr/>
        </p:nvPicPr>
        <p:blipFill rotWithShape="1">
          <a:blip r:embed="rId5">
            <a:alphaModFix/>
          </a:blip>
          <a:srcRect b="23958" l="14861" r="49785" t="29133"/>
          <a:stretch/>
        </p:blipFill>
        <p:spPr>
          <a:xfrm>
            <a:off x="3352800" y="3276600"/>
            <a:ext cx="2225619" cy="1660257"/>
          </a:xfrm>
          <a:prstGeom prst="rect">
            <a:avLst/>
          </a:prstGeom>
          <a:noFill/>
          <a:ln>
            <a:noFill/>
          </a:ln>
        </p:spPr>
      </p:pic>
      <p:sp>
        <p:nvSpPr>
          <p:cNvPr id="112" name="Google Shape;112;p15"/>
          <p:cNvSpPr txBox="1"/>
          <p:nvPr/>
        </p:nvSpPr>
        <p:spPr>
          <a:xfrm>
            <a:off x="6019800" y="457200"/>
            <a:ext cx="2743200" cy="5355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Send user to LinkedIn to register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Authentication protocol</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Oauth2 – talks to LI, login, and then login through own service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Make account on own service and connected to linkedin, and exists within our own service</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For best experience use LI account, but can login through FB, Twitter too</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Can make LI account through our APP.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16"/>
          <p:cNvPicPr preferRelativeResize="0"/>
          <p:nvPr>
            <p:ph idx="1" type="body"/>
          </p:nvPr>
        </p:nvPicPr>
        <p:blipFill rotWithShape="1">
          <a:blip r:embed="rId3">
            <a:alphaModFix/>
          </a:blip>
          <a:srcRect b="2058" l="35352" r="35727" t="2496"/>
          <a:stretch/>
        </p:blipFill>
        <p:spPr>
          <a:xfrm>
            <a:off x="3200400" y="110359"/>
            <a:ext cx="2590800" cy="6416565"/>
          </a:xfrm>
          <a:prstGeom prst="rect">
            <a:avLst/>
          </a:prstGeom>
          <a:noFill/>
          <a:ln>
            <a:noFill/>
          </a:ln>
        </p:spPr>
      </p:pic>
      <p:sp>
        <p:nvSpPr>
          <p:cNvPr id="118" name="Google Shape;118;p16"/>
          <p:cNvSpPr/>
          <p:nvPr/>
        </p:nvSpPr>
        <p:spPr>
          <a:xfrm>
            <a:off x="3352800" y="1295400"/>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16"/>
          <p:cNvSpPr/>
          <p:nvPr/>
        </p:nvSpPr>
        <p:spPr>
          <a:xfrm>
            <a:off x="3352800" y="1295400"/>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 name="Google Shape;120;p16"/>
          <p:cNvSpPr txBox="1"/>
          <p:nvPr/>
        </p:nvSpPr>
        <p:spPr>
          <a:xfrm>
            <a:off x="3352800" y="1295400"/>
            <a:ext cx="114431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Search…</a:t>
            </a:r>
            <a:endParaRPr sz="1800">
              <a:solidFill>
                <a:schemeClr val="dk1"/>
              </a:solidFill>
              <a:latin typeface="Calibri"/>
              <a:ea typeface="Calibri"/>
              <a:cs typeface="Calibri"/>
              <a:sym typeface="Calibri"/>
            </a:endParaRPr>
          </a:p>
        </p:txBody>
      </p:sp>
      <p:sp>
        <p:nvSpPr>
          <p:cNvPr id="121" name="Google Shape;121;p16"/>
          <p:cNvSpPr txBox="1"/>
          <p:nvPr/>
        </p:nvSpPr>
        <p:spPr>
          <a:xfrm>
            <a:off x="4495800" y="1353979"/>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ABC</a:t>
            </a:r>
            <a:endParaRPr sz="1000">
              <a:solidFill>
                <a:schemeClr val="dk1"/>
              </a:solidFill>
              <a:latin typeface="Calibri"/>
              <a:ea typeface="Calibri"/>
              <a:cs typeface="Calibri"/>
              <a:sym typeface="Calibri"/>
            </a:endParaRPr>
          </a:p>
        </p:txBody>
      </p:sp>
      <p:sp>
        <p:nvSpPr>
          <p:cNvPr id="122" name="Google Shape;122;p16"/>
          <p:cNvSpPr txBox="1"/>
          <p:nvPr/>
        </p:nvSpPr>
        <p:spPr>
          <a:xfrm>
            <a:off x="4800600" y="1353979"/>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You</a:t>
            </a:r>
            <a:endParaRPr sz="1000">
              <a:solidFill>
                <a:schemeClr val="dk1"/>
              </a:solidFill>
              <a:latin typeface="Calibri"/>
              <a:ea typeface="Calibri"/>
              <a:cs typeface="Calibri"/>
              <a:sym typeface="Calibri"/>
            </a:endParaRPr>
          </a:p>
        </p:txBody>
      </p:sp>
      <p:sp>
        <p:nvSpPr>
          <p:cNvPr id="123" name="Google Shape;123;p16"/>
          <p:cNvSpPr txBox="1"/>
          <p:nvPr/>
        </p:nvSpPr>
        <p:spPr>
          <a:xfrm>
            <a:off x="5029200" y="1371600"/>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NET</a:t>
            </a:r>
            <a:endParaRPr sz="1000">
              <a:solidFill>
                <a:schemeClr val="dk1"/>
              </a:solidFill>
              <a:latin typeface="Calibri"/>
              <a:ea typeface="Calibri"/>
              <a:cs typeface="Calibri"/>
              <a:sym typeface="Calibri"/>
            </a:endParaRPr>
          </a:p>
        </p:txBody>
      </p:sp>
      <p:cxnSp>
        <p:nvCxnSpPr>
          <p:cNvPr id="124" name="Google Shape;124;p16"/>
          <p:cNvCxnSpPr/>
          <p:nvPr/>
        </p:nvCxnSpPr>
        <p:spPr>
          <a:xfrm>
            <a:off x="4495800" y="1295400"/>
            <a:ext cx="0" cy="457200"/>
          </a:xfrm>
          <a:prstGeom prst="straightConnector1">
            <a:avLst/>
          </a:prstGeom>
          <a:noFill/>
          <a:ln cap="flat" cmpd="sng" w="9525">
            <a:solidFill>
              <a:schemeClr val="dk1"/>
            </a:solidFill>
            <a:prstDash val="solid"/>
            <a:round/>
            <a:headEnd len="sm" w="sm" type="none"/>
            <a:tailEnd len="sm" w="sm" type="none"/>
          </a:ln>
        </p:spPr>
      </p:cxnSp>
      <p:cxnSp>
        <p:nvCxnSpPr>
          <p:cNvPr id="125" name="Google Shape;125;p16"/>
          <p:cNvCxnSpPr/>
          <p:nvPr/>
        </p:nvCxnSpPr>
        <p:spPr>
          <a:xfrm>
            <a:off x="4800600" y="1295400"/>
            <a:ext cx="0" cy="457200"/>
          </a:xfrm>
          <a:prstGeom prst="straightConnector1">
            <a:avLst/>
          </a:prstGeom>
          <a:noFill/>
          <a:ln cap="flat" cmpd="sng" w="9525">
            <a:solidFill>
              <a:schemeClr val="dk1"/>
            </a:solidFill>
            <a:prstDash val="solid"/>
            <a:round/>
            <a:headEnd len="sm" w="sm" type="none"/>
            <a:tailEnd len="sm" w="sm" type="none"/>
          </a:ln>
        </p:spPr>
      </p:cxnSp>
      <p:cxnSp>
        <p:nvCxnSpPr>
          <p:cNvPr id="126" name="Google Shape;126;p16"/>
          <p:cNvCxnSpPr/>
          <p:nvPr/>
        </p:nvCxnSpPr>
        <p:spPr>
          <a:xfrm>
            <a:off x="5105400" y="1295400"/>
            <a:ext cx="0" cy="457200"/>
          </a:xfrm>
          <a:prstGeom prst="straightConnector1">
            <a:avLst/>
          </a:prstGeom>
          <a:noFill/>
          <a:ln cap="flat" cmpd="sng" w="9525">
            <a:solidFill>
              <a:schemeClr val="dk1"/>
            </a:solidFill>
            <a:prstDash val="solid"/>
            <a:round/>
            <a:headEnd len="sm" w="sm" type="none"/>
            <a:tailEnd len="sm" w="sm" type="none"/>
          </a:ln>
        </p:spPr>
      </p:cxnSp>
      <p:sp>
        <p:nvSpPr>
          <p:cNvPr id="127" name="Google Shape;127;p16"/>
          <p:cNvSpPr txBox="1"/>
          <p:nvPr/>
        </p:nvSpPr>
        <p:spPr>
          <a:xfrm>
            <a:off x="3352800" y="1676400"/>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Name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pic>
        <p:nvPicPr>
          <p:cNvPr id="128" name="Google Shape;128;p16"/>
          <p:cNvPicPr preferRelativeResize="0"/>
          <p:nvPr/>
        </p:nvPicPr>
        <p:blipFill rotWithShape="1">
          <a:blip r:embed="rId4">
            <a:alphaModFix/>
          </a:blip>
          <a:srcRect b="0" l="0" r="0" t="0"/>
          <a:stretch/>
        </p:blipFill>
        <p:spPr>
          <a:xfrm>
            <a:off x="3491487" y="1890713"/>
            <a:ext cx="623887" cy="623887"/>
          </a:xfrm>
          <a:prstGeom prst="rect">
            <a:avLst/>
          </a:prstGeom>
          <a:noFill/>
          <a:ln>
            <a:noFill/>
          </a:ln>
        </p:spPr>
      </p:pic>
      <p:sp>
        <p:nvSpPr>
          <p:cNvPr id="129" name="Google Shape;129;p16"/>
          <p:cNvSpPr txBox="1"/>
          <p:nvPr/>
        </p:nvSpPr>
        <p:spPr>
          <a:xfrm>
            <a:off x="3352800" y="2667000"/>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Name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130" name="Google Shape;130;p16"/>
          <p:cNvSpPr txBox="1"/>
          <p:nvPr/>
        </p:nvSpPr>
        <p:spPr>
          <a:xfrm>
            <a:off x="3350172" y="3676471"/>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Name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cxnSp>
        <p:nvCxnSpPr>
          <p:cNvPr id="131" name="Google Shape;131;p16"/>
          <p:cNvCxnSpPr/>
          <p:nvPr/>
        </p:nvCxnSpPr>
        <p:spPr>
          <a:xfrm>
            <a:off x="3352800" y="2743200"/>
            <a:ext cx="2283372" cy="0"/>
          </a:xfrm>
          <a:prstGeom prst="straightConnector1">
            <a:avLst/>
          </a:prstGeom>
          <a:noFill/>
          <a:ln cap="flat" cmpd="sng" w="9525">
            <a:solidFill>
              <a:schemeClr val="dk1"/>
            </a:solidFill>
            <a:prstDash val="solid"/>
            <a:round/>
            <a:headEnd len="sm" w="sm" type="none"/>
            <a:tailEnd len="sm" w="sm" type="none"/>
          </a:ln>
        </p:spPr>
      </p:cxnSp>
      <p:cxnSp>
        <p:nvCxnSpPr>
          <p:cNvPr id="132" name="Google Shape;132;p16"/>
          <p:cNvCxnSpPr/>
          <p:nvPr/>
        </p:nvCxnSpPr>
        <p:spPr>
          <a:xfrm>
            <a:off x="3355428" y="3733800"/>
            <a:ext cx="2283372" cy="0"/>
          </a:xfrm>
          <a:prstGeom prst="straightConnector1">
            <a:avLst/>
          </a:prstGeom>
          <a:noFill/>
          <a:ln cap="flat" cmpd="sng" w="9525">
            <a:solidFill>
              <a:schemeClr val="dk1"/>
            </a:solidFill>
            <a:prstDash val="solid"/>
            <a:round/>
            <a:headEnd len="sm" w="sm" type="none"/>
            <a:tailEnd len="sm" w="sm" type="none"/>
          </a:ln>
        </p:spPr>
      </p:cxnSp>
      <p:cxnSp>
        <p:nvCxnSpPr>
          <p:cNvPr id="133" name="Google Shape;133;p16"/>
          <p:cNvCxnSpPr/>
          <p:nvPr/>
        </p:nvCxnSpPr>
        <p:spPr>
          <a:xfrm>
            <a:off x="3339662" y="4800600"/>
            <a:ext cx="2283372" cy="0"/>
          </a:xfrm>
          <a:prstGeom prst="straightConnector1">
            <a:avLst/>
          </a:prstGeom>
          <a:noFill/>
          <a:ln cap="flat" cmpd="sng" w="9525">
            <a:solidFill>
              <a:schemeClr val="dk1"/>
            </a:solidFill>
            <a:prstDash val="solid"/>
            <a:round/>
            <a:headEnd len="sm" w="sm" type="none"/>
            <a:tailEnd len="sm" w="sm" type="none"/>
          </a:ln>
        </p:spPr>
      </p:cxnSp>
      <p:sp>
        <p:nvSpPr>
          <p:cNvPr id="134" name="Google Shape;134;p16"/>
          <p:cNvSpPr txBox="1"/>
          <p:nvPr/>
        </p:nvSpPr>
        <p:spPr>
          <a:xfrm>
            <a:off x="3355428" y="4859179"/>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Contacts</a:t>
            </a:r>
            <a:endParaRPr sz="1000">
              <a:solidFill>
                <a:schemeClr val="dk1"/>
              </a:solidFill>
              <a:latin typeface="Calibri"/>
              <a:ea typeface="Calibri"/>
              <a:cs typeface="Calibri"/>
              <a:sym typeface="Calibri"/>
            </a:endParaRPr>
          </a:p>
        </p:txBody>
      </p:sp>
      <p:sp>
        <p:nvSpPr>
          <p:cNvPr id="135" name="Google Shape;135;p16"/>
          <p:cNvSpPr txBox="1"/>
          <p:nvPr/>
        </p:nvSpPr>
        <p:spPr>
          <a:xfrm>
            <a:off x="4117141" y="4859179"/>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Profile</a:t>
            </a:r>
            <a:endParaRPr sz="1000">
              <a:solidFill>
                <a:schemeClr val="dk1"/>
              </a:solidFill>
              <a:latin typeface="Calibri"/>
              <a:ea typeface="Calibri"/>
              <a:cs typeface="Calibri"/>
              <a:sym typeface="Calibri"/>
            </a:endParaRPr>
          </a:p>
        </p:txBody>
      </p:sp>
      <p:sp>
        <p:nvSpPr>
          <p:cNvPr id="136" name="Google Shape;136;p16"/>
          <p:cNvSpPr txBox="1"/>
          <p:nvPr/>
        </p:nvSpPr>
        <p:spPr>
          <a:xfrm>
            <a:off x="4825562" y="4859178"/>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Rate</a:t>
            </a:r>
            <a:endParaRPr sz="1000">
              <a:solidFill>
                <a:schemeClr val="dk1"/>
              </a:solidFill>
              <a:latin typeface="Calibri"/>
              <a:ea typeface="Calibri"/>
              <a:cs typeface="Calibri"/>
              <a:sym typeface="Calibri"/>
            </a:endParaRPr>
          </a:p>
        </p:txBody>
      </p:sp>
      <p:pic>
        <p:nvPicPr>
          <p:cNvPr id="137" name="Google Shape;137;p16"/>
          <p:cNvPicPr preferRelativeResize="0"/>
          <p:nvPr/>
        </p:nvPicPr>
        <p:blipFill rotWithShape="1">
          <a:blip r:embed="rId3">
            <a:alphaModFix/>
          </a:blip>
          <a:srcRect b="2058" l="35352" r="35727" t="2496"/>
          <a:stretch/>
        </p:blipFill>
        <p:spPr>
          <a:xfrm>
            <a:off x="696310" y="106417"/>
            <a:ext cx="2590800" cy="6416565"/>
          </a:xfrm>
          <a:prstGeom prst="rect">
            <a:avLst/>
          </a:prstGeom>
          <a:noFill/>
          <a:ln>
            <a:noFill/>
          </a:ln>
        </p:spPr>
      </p:pic>
      <p:sp>
        <p:nvSpPr>
          <p:cNvPr id="138" name="Google Shape;138;p16"/>
          <p:cNvSpPr/>
          <p:nvPr/>
        </p:nvSpPr>
        <p:spPr>
          <a:xfrm>
            <a:off x="848710" y="1291458"/>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16"/>
          <p:cNvSpPr/>
          <p:nvPr/>
        </p:nvSpPr>
        <p:spPr>
          <a:xfrm>
            <a:off x="848710" y="1291458"/>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16"/>
          <p:cNvSpPr txBox="1"/>
          <p:nvPr/>
        </p:nvSpPr>
        <p:spPr>
          <a:xfrm>
            <a:off x="762000" y="1291458"/>
            <a:ext cx="108519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Contacts</a:t>
            </a:r>
            <a:endParaRPr sz="1800">
              <a:solidFill>
                <a:schemeClr val="dk1"/>
              </a:solidFill>
              <a:latin typeface="Calibri"/>
              <a:ea typeface="Calibri"/>
              <a:cs typeface="Calibri"/>
              <a:sym typeface="Calibri"/>
            </a:endParaRPr>
          </a:p>
        </p:txBody>
      </p:sp>
      <p:pic>
        <p:nvPicPr>
          <p:cNvPr id="141" name="Google Shape;141;p16"/>
          <p:cNvPicPr preferRelativeResize="0"/>
          <p:nvPr/>
        </p:nvPicPr>
        <p:blipFill rotWithShape="1">
          <a:blip r:embed="rId5">
            <a:alphaModFix/>
          </a:blip>
          <a:srcRect b="0" l="0" r="0" t="0"/>
          <a:stretch/>
        </p:blipFill>
        <p:spPr>
          <a:xfrm>
            <a:off x="3491487" y="3962400"/>
            <a:ext cx="608587" cy="615875"/>
          </a:xfrm>
          <a:prstGeom prst="rect">
            <a:avLst/>
          </a:prstGeom>
          <a:noFill/>
          <a:ln>
            <a:noFill/>
          </a:ln>
        </p:spPr>
      </p:pic>
      <p:cxnSp>
        <p:nvCxnSpPr>
          <p:cNvPr id="142" name="Google Shape;142;p16"/>
          <p:cNvCxnSpPr/>
          <p:nvPr/>
        </p:nvCxnSpPr>
        <p:spPr>
          <a:xfrm rot="10800000">
            <a:off x="2971800" y="3581400"/>
            <a:ext cx="519688" cy="1219200"/>
          </a:xfrm>
          <a:prstGeom prst="straightConnector1">
            <a:avLst/>
          </a:prstGeom>
          <a:noFill/>
          <a:ln cap="flat" cmpd="sng" w="9525">
            <a:solidFill>
              <a:srgbClr val="002060"/>
            </a:solidFill>
            <a:prstDash val="solid"/>
            <a:round/>
            <a:headEnd len="sm" w="sm" type="none"/>
            <a:tailEnd len="med" w="med" type="stealth"/>
          </a:ln>
        </p:spPr>
      </p:cxnSp>
      <p:pic>
        <p:nvPicPr>
          <p:cNvPr id="143" name="Google Shape;143;p16"/>
          <p:cNvPicPr preferRelativeResize="0"/>
          <p:nvPr/>
        </p:nvPicPr>
        <p:blipFill rotWithShape="1">
          <a:blip r:embed="rId6">
            <a:alphaModFix/>
          </a:blip>
          <a:srcRect b="0" l="0" r="0" t="0"/>
          <a:stretch/>
        </p:blipFill>
        <p:spPr>
          <a:xfrm>
            <a:off x="3490460" y="2912681"/>
            <a:ext cx="593093" cy="668719"/>
          </a:xfrm>
          <a:prstGeom prst="rect">
            <a:avLst/>
          </a:prstGeom>
          <a:noFill/>
          <a:ln>
            <a:noFill/>
          </a:ln>
        </p:spPr>
      </p:pic>
      <p:pic>
        <p:nvPicPr>
          <p:cNvPr id="144" name="Google Shape;144;p16"/>
          <p:cNvPicPr preferRelativeResize="0"/>
          <p:nvPr/>
        </p:nvPicPr>
        <p:blipFill rotWithShape="1">
          <a:blip r:embed="rId3">
            <a:alphaModFix/>
          </a:blip>
          <a:srcRect b="2058" l="35352" r="35727" t="2496"/>
          <a:stretch/>
        </p:blipFill>
        <p:spPr>
          <a:xfrm>
            <a:off x="5791200" y="88024"/>
            <a:ext cx="2590800" cy="6416565"/>
          </a:xfrm>
          <a:prstGeom prst="rect">
            <a:avLst/>
          </a:prstGeom>
          <a:noFill/>
          <a:ln>
            <a:noFill/>
          </a:ln>
        </p:spPr>
      </p:pic>
      <p:sp>
        <p:nvSpPr>
          <p:cNvPr id="145" name="Google Shape;145;p16"/>
          <p:cNvSpPr/>
          <p:nvPr/>
        </p:nvSpPr>
        <p:spPr>
          <a:xfrm>
            <a:off x="5943600" y="1273065"/>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16"/>
          <p:cNvSpPr/>
          <p:nvPr/>
        </p:nvSpPr>
        <p:spPr>
          <a:xfrm>
            <a:off x="5943600" y="1273065"/>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47" name="Google Shape;147;p16"/>
          <p:cNvCxnSpPr/>
          <p:nvPr/>
        </p:nvCxnSpPr>
        <p:spPr>
          <a:xfrm flipH="1" rot="10800000">
            <a:off x="5205535" y="4191000"/>
            <a:ext cx="966665" cy="729370"/>
          </a:xfrm>
          <a:prstGeom prst="straightConnector1">
            <a:avLst/>
          </a:prstGeom>
          <a:noFill/>
          <a:ln cap="flat" cmpd="sng" w="9525">
            <a:solidFill>
              <a:srgbClr val="002060"/>
            </a:solidFill>
            <a:prstDash val="solid"/>
            <a:round/>
            <a:headEnd len="sm" w="sm" type="none"/>
            <a:tailEnd len="med" w="med" type="stealth"/>
          </a:ln>
        </p:spPr>
      </p:cxnSp>
      <p:pic>
        <p:nvPicPr>
          <p:cNvPr id="148" name="Google Shape;148;p16"/>
          <p:cNvPicPr preferRelativeResize="0"/>
          <p:nvPr/>
        </p:nvPicPr>
        <p:blipFill rotWithShape="1">
          <a:blip r:embed="rId7">
            <a:alphaModFix/>
          </a:blip>
          <a:srcRect b="0" l="0" r="0" t="0"/>
          <a:stretch/>
        </p:blipFill>
        <p:spPr>
          <a:xfrm>
            <a:off x="5372101" y="1261296"/>
            <a:ext cx="250934" cy="468970"/>
          </a:xfrm>
          <a:prstGeom prst="rect">
            <a:avLst/>
          </a:prstGeom>
          <a:noFill/>
          <a:ln>
            <a:noFill/>
          </a:ln>
        </p:spPr>
      </p:pic>
      <p:cxnSp>
        <p:nvCxnSpPr>
          <p:cNvPr id="149" name="Google Shape;149;p16"/>
          <p:cNvCxnSpPr/>
          <p:nvPr/>
        </p:nvCxnSpPr>
        <p:spPr>
          <a:xfrm>
            <a:off x="4038600" y="4806240"/>
            <a:ext cx="0" cy="457200"/>
          </a:xfrm>
          <a:prstGeom prst="straightConnector1">
            <a:avLst/>
          </a:prstGeom>
          <a:noFill/>
          <a:ln cap="flat" cmpd="sng" w="9525">
            <a:solidFill>
              <a:schemeClr val="dk1"/>
            </a:solidFill>
            <a:prstDash val="solid"/>
            <a:round/>
            <a:headEnd len="sm" w="sm" type="none"/>
            <a:tailEnd len="sm" w="sm" type="none"/>
          </a:ln>
        </p:spPr>
      </p:cxnSp>
      <p:cxnSp>
        <p:nvCxnSpPr>
          <p:cNvPr id="150" name="Google Shape;150;p16"/>
          <p:cNvCxnSpPr/>
          <p:nvPr/>
        </p:nvCxnSpPr>
        <p:spPr>
          <a:xfrm>
            <a:off x="4791403" y="4806625"/>
            <a:ext cx="0" cy="457200"/>
          </a:xfrm>
          <a:prstGeom prst="straightConnector1">
            <a:avLst/>
          </a:prstGeom>
          <a:noFill/>
          <a:ln cap="flat" cmpd="sng" w="9525">
            <a:solidFill>
              <a:schemeClr val="dk1"/>
            </a:solidFill>
            <a:prstDash val="solid"/>
            <a:round/>
            <a:headEnd len="sm" w="sm" type="none"/>
            <a:tailEnd len="sm" w="sm" type="none"/>
          </a:ln>
        </p:spPr>
      </p:cxnSp>
      <p:sp>
        <p:nvSpPr>
          <p:cNvPr id="151" name="Google Shape;151;p16"/>
          <p:cNvSpPr txBox="1"/>
          <p:nvPr/>
        </p:nvSpPr>
        <p:spPr>
          <a:xfrm>
            <a:off x="4838700" y="-7883"/>
            <a:ext cx="11430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Settings</a:t>
            </a:r>
            <a:endParaRPr sz="1800">
              <a:solidFill>
                <a:schemeClr val="dk1"/>
              </a:solidFill>
              <a:latin typeface="Calibri"/>
              <a:ea typeface="Calibri"/>
              <a:cs typeface="Calibri"/>
              <a:sym typeface="Calibri"/>
            </a:endParaRPr>
          </a:p>
        </p:txBody>
      </p:sp>
      <p:cxnSp>
        <p:nvCxnSpPr>
          <p:cNvPr id="152" name="Google Shape;152;p16"/>
          <p:cNvCxnSpPr/>
          <p:nvPr/>
        </p:nvCxnSpPr>
        <p:spPr>
          <a:xfrm>
            <a:off x="5410200" y="361449"/>
            <a:ext cx="87368" cy="899847"/>
          </a:xfrm>
          <a:prstGeom prst="straightConnector1">
            <a:avLst/>
          </a:prstGeom>
          <a:noFill/>
          <a:ln cap="flat" cmpd="sng" w="9525">
            <a:solidFill>
              <a:srgbClr val="002060"/>
            </a:solidFill>
            <a:prstDash val="solid"/>
            <a:round/>
            <a:headEnd len="sm" w="sm" type="none"/>
            <a:tailEnd len="med" w="med" type="stealth"/>
          </a:ln>
        </p:spPr>
      </p:cxnSp>
      <p:pic>
        <p:nvPicPr>
          <p:cNvPr id="153" name="Google Shape;153;p16"/>
          <p:cNvPicPr preferRelativeResize="0"/>
          <p:nvPr/>
        </p:nvPicPr>
        <p:blipFill rotWithShape="1">
          <a:blip r:embed="rId8">
            <a:alphaModFix/>
          </a:blip>
          <a:srcRect b="0" l="0" r="0" t="0"/>
          <a:stretch/>
        </p:blipFill>
        <p:spPr>
          <a:xfrm>
            <a:off x="848710" y="1797396"/>
            <a:ext cx="993227" cy="993227"/>
          </a:xfrm>
          <a:prstGeom prst="rect">
            <a:avLst/>
          </a:prstGeom>
          <a:noFill/>
          <a:ln>
            <a:noFill/>
          </a:ln>
        </p:spPr>
      </p:pic>
      <p:sp>
        <p:nvSpPr>
          <p:cNvPr id="154" name="Google Shape;154;p16"/>
          <p:cNvSpPr txBox="1"/>
          <p:nvPr/>
        </p:nvSpPr>
        <p:spPr>
          <a:xfrm>
            <a:off x="-4267200" y="-1001256"/>
            <a:ext cx="4524703" cy="1006429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CONTACT NOTES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Randomly generated profile from LI based on recent phone contact– i.e. I talked to my brother yesterday on the phone, so LI generates his profile to verify his stats.  Random generation starts with most recent contacts.  If I’m okay with profile I can save it.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Auto save after edit.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To edit box, just push on field and start typing.</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Can edit fields over time too – updates on back-end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Scroll bar for jobs beyond 1.  Scroll bar for universities beyond 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verify or enter categories – Categories are sourced from LinkedIn profile if they exist – pulling from jobs field for industry; skills from skills or talent part; personality needs to be manually entered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Scroll for more “skills” beyond 3.</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First category – industry/job function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Second – skills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Third – Personality/Other</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Have little “x” or “-” next to field to delete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Smart Lookup is just a field that allows for data entry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Contacts can also have a notification for someone who you recently added to the phonebook</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16"/>
          <p:cNvSpPr txBox="1"/>
          <p:nvPr/>
        </p:nvSpPr>
        <p:spPr>
          <a:xfrm>
            <a:off x="625652" y="6181423"/>
            <a:ext cx="3107121"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Left well  of contacts pops when you swipe phone to right</a:t>
            </a:r>
            <a:endParaRPr sz="1800">
              <a:solidFill>
                <a:schemeClr val="dk1"/>
              </a:solidFill>
              <a:latin typeface="Calibri"/>
              <a:ea typeface="Calibri"/>
              <a:cs typeface="Calibri"/>
              <a:sym typeface="Calibri"/>
            </a:endParaRPr>
          </a:p>
        </p:txBody>
      </p:sp>
      <p:sp>
        <p:nvSpPr>
          <p:cNvPr id="156" name="Google Shape;156;p16"/>
          <p:cNvSpPr txBox="1"/>
          <p:nvPr/>
        </p:nvSpPr>
        <p:spPr>
          <a:xfrm>
            <a:off x="5943600" y="6176223"/>
            <a:ext cx="3107121"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Right well  of contacts pops when you swipe phone to left</a:t>
            </a:r>
            <a:endParaRPr sz="1800">
              <a:solidFill>
                <a:schemeClr val="dk1"/>
              </a:solidFill>
              <a:latin typeface="Calibri"/>
              <a:ea typeface="Calibri"/>
              <a:cs typeface="Calibri"/>
              <a:sym typeface="Calibri"/>
            </a:endParaRPr>
          </a:p>
        </p:txBody>
      </p:sp>
      <p:sp>
        <p:nvSpPr>
          <p:cNvPr id="157" name="Google Shape;157;p16"/>
          <p:cNvSpPr txBox="1"/>
          <p:nvPr/>
        </p:nvSpPr>
        <p:spPr>
          <a:xfrm>
            <a:off x="790903" y="2605207"/>
            <a:ext cx="2286000" cy="166199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Company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Previous company       Position</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Last University	             Degree</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Undergrad University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Other univ.</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158" name="Google Shape;158;p16"/>
          <p:cNvSpPr txBox="1"/>
          <p:nvPr/>
        </p:nvSpPr>
        <p:spPr>
          <a:xfrm>
            <a:off x="1828800" y="1752600"/>
            <a:ext cx="2286000" cy="11079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Cell</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Work Phone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Email (Gmail default)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59" name="Google Shape;159;p16"/>
          <p:cNvCxnSpPr/>
          <p:nvPr/>
        </p:nvCxnSpPr>
        <p:spPr>
          <a:xfrm>
            <a:off x="1752600" y="1273066"/>
            <a:ext cx="0" cy="457200"/>
          </a:xfrm>
          <a:prstGeom prst="straightConnector1">
            <a:avLst/>
          </a:prstGeom>
          <a:noFill/>
          <a:ln cap="flat" cmpd="sng" w="9525">
            <a:solidFill>
              <a:schemeClr val="dk1"/>
            </a:solidFill>
            <a:prstDash val="solid"/>
            <a:round/>
            <a:headEnd len="sm" w="sm" type="none"/>
            <a:tailEnd len="sm" w="sm" type="none"/>
          </a:ln>
        </p:spPr>
      </p:cxnSp>
      <p:sp>
        <p:nvSpPr>
          <p:cNvPr id="160" name="Google Shape;160;p16"/>
          <p:cNvSpPr txBox="1"/>
          <p:nvPr/>
        </p:nvSpPr>
        <p:spPr>
          <a:xfrm>
            <a:off x="1676400" y="1295400"/>
            <a:ext cx="8382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Search</a:t>
            </a:r>
            <a:endParaRPr sz="1800">
              <a:solidFill>
                <a:schemeClr val="dk1"/>
              </a:solidFill>
              <a:latin typeface="Calibri"/>
              <a:ea typeface="Calibri"/>
              <a:cs typeface="Calibri"/>
              <a:sym typeface="Calibri"/>
            </a:endParaRPr>
          </a:p>
        </p:txBody>
      </p:sp>
      <p:cxnSp>
        <p:nvCxnSpPr>
          <p:cNvPr id="161" name="Google Shape;161;p16"/>
          <p:cNvCxnSpPr/>
          <p:nvPr/>
        </p:nvCxnSpPr>
        <p:spPr>
          <a:xfrm>
            <a:off x="2529051" y="1273066"/>
            <a:ext cx="0" cy="457200"/>
          </a:xfrm>
          <a:prstGeom prst="straightConnector1">
            <a:avLst/>
          </a:prstGeom>
          <a:noFill/>
          <a:ln cap="flat" cmpd="sng" w="9525">
            <a:solidFill>
              <a:schemeClr val="dk1"/>
            </a:solidFill>
            <a:prstDash val="solid"/>
            <a:round/>
            <a:headEnd len="sm" w="sm" type="none"/>
            <a:tailEnd len="sm" w="sm" type="none"/>
          </a:ln>
        </p:spPr>
      </p:cxnSp>
      <p:sp>
        <p:nvSpPr>
          <p:cNvPr id="162" name="Google Shape;162;p16"/>
          <p:cNvSpPr/>
          <p:nvPr/>
        </p:nvSpPr>
        <p:spPr>
          <a:xfrm>
            <a:off x="848710" y="1291458"/>
            <a:ext cx="903890" cy="438808"/>
          </a:xfrm>
          <a:prstGeom prst="roundRect">
            <a:avLst>
              <a:gd fmla="val 16667" name="adj"/>
            </a:avLst>
          </a:prstGeom>
          <a:solidFill>
            <a:schemeClr val="accent2">
              <a:alpha val="8627"/>
            </a:schemeClr>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16"/>
          <p:cNvSpPr txBox="1"/>
          <p:nvPr/>
        </p:nvSpPr>
        <p:spPr>
          <a:xfrm>
            <a:off x="2425550" y="1295400"/>
            <a:ext cx="851050"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Rate</a:t>
            </a:r>
            <a:endParaRPr sz="1800">
              <a:solidFill>
                <a:schemeClr val="dk1"/>
              </a:solidFill>
              <a:latin typeface="Calibri"/>
              <a:ea typeface="Calibri"/>
              <a:cs typeface="Calibri"/>
              <a:sym typeface="Calibri"/>
            </a:endParaRPr>
          </a:p>
        </p:txBody>
      </p:sp>
      <p:sp>
        <p:nvSpPr>
          <p:cNvPr id="164" name="Google Shape;164;p16"/>
          <p:cNvSpPr/>
          <p:nvPr/>
        </p:nvSpPr>
        <p:spPr>
          <a:xfrm>
            <a:off x="5996151" y="1286361"/>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16"/>
          <p:cNvSpPr txBox="1"/>
          <p:nvPr/>
        </p:nvSpPr>
        <p:spPr>
          <a:xfrm>
            <a:off x="5909441" y="1212369"/>
            <a:ext cx="872359"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Bee’s Chest</a:t>
            </a:r>
            <a:endParaRPr sz="1800">
              <a:solidFill>
                <a:schemeClr val="dk1"/>
              </a:solidFill>
              <a:latin typeface="Calibri"/>
              <a:ea typeface="Calibri"/>
              <a:cs typeface="Calibri"/>
              <a:sym typeface="Calibri"/>
            </a:endParaRPr>
          </a:p>
        </p:txBody>
      </p:sp>
      <p:cxnSp>
        <p:nvCxnSpPr>
          <p:cNvPr id="166" name="Google Shape;166;p16"/>
          <p:cNvCxnSpPr/>
          <p:nvPr/>
        </p:nvCxnSpPr>
        <p:spPr>
          <a:xfrm>
            <a:off x="6629400" y="1267969"/>
            <a:ext cx="0" cy="457200"/>
          </a:xfrm>
          <a:prstGeom prst="straightConnector1">
            <a:avLst/>
          </a:prstGeom>
          <a:noFill/>
          <a:ln cap="flat" cmpd="sng" w="9525">
            <a:solidFill>
              <a:schemeClr val="dk1"/>
            </a:solidFill>
            <a:prstDash val="solid"/>
            <a:round/>
            <a:headEnd len="sm" w="sm" type="none"/>
            <a:tailEnd len="sm" w="sm" type="none"/>
          </a:ln>
        </p:spPr>
      </p:cxnSp>
      <p:sp>
        <p:nvSpPr>
          <p:cNvPr id="167" name="Google Shape;167;p16"/>
          <p:cNvSpPr txBox="1"/>
          <p:nvPr/>
        </p:nvSpPr>
        <p:spPr>
          <a:xfrm>
            <a:off x="6629400" y="1326196"/>
            <a:ext cx="8382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Search</a:t>
            </a:r>
            <a:endParaRPr sz="1800">
              <a:solidFill>
                <a:schemeClr val="dk1"/>
              </a:solidFill>
              <a:latin typeface="Calibri"/>
              <a:ea typeface="Calibri"/>
              <a:cs typeface="Calibri"/>
              <a:sym typeface="Calibri"/>
            </a:endParaRPr>
          </a:p>
        </p:txBody>
      </p:sp>
      <p:cxnSp>
        <p:nvCxnSpPr>
          <p:cNvPr id="168" name="Google Shape;168;p16"/>
          <p:cNvCxnSpPr/>
          <p:nvPr/>
        </p:nvCxnSpPr>
        <p:spPr>
          <a:xfrm>
            <a:off x="7391400" y="1267969"/>
            <a:ext cx="0" cy="457200"/>
          </a:xfrm>
          <a:prstGeom prst="straightConnector1">
            <a:avLst/>
          </a:prstGeom>
          <a:noFill/>
          <a:ln cap="flat" cmpd="sng" w="9525">
            <a:solidFill>
              <a:schemeClr val="dk1"/>
            </a:solidFill>
            <a:prstDash val="solid"/>
            <a:round/>
            <a:headEnd len="sm" w="sm" type="none"/>
            <a:tailEnd len="sm" w="sm" type="none"/>
          </a:ln>
        </p:spPr>
      </p:cxnSp>
      <p:sp>
        <p:nvSpPr>
          <p:cNvPr id="169" name="Google Shape;169;p16"/>
          <p:cNvSpPr/>
          <p:nvPr/>
        </p:nvSpPr>
        <p:spPr>
          <a:xfrm>
            <a:off x="5981700" y="1302154"/>
            <a:ext cx="683172" cy="480270"/>
          </a:xfrm>
          <a:prstGeom prst="roundRect">
            <a:avLst>
              <a:gd fmla="val 16667" name="adj"/>
            </a:avLst>
          </a:prstGeom>
          <a:solidFill>
            <a:schemeClr val="accent2">
              <a:alpha val="8627"/>
            </a:schemeClr>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16"/>
          <p:cNvSpPr txBox="1"/>
          <p:nvPr/>
        </p:nvSpPr>
        <p:spPr>
          <a:xfrm>
            <a:off x="7315200" y="1307068"/>
            <a:ext cx="9906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Contacts</a:t>
            </a:r>
            <a:endParaRPr sz="1800">
              <a:solidFill>
                <a:schemeClr val="dk1"/>
              </a:solidFill>
              <a:latin typeface="Calibri"/>
              <a:ea typeface="Calibri"/>
              <a:cs typeface="Calibri"/>
              <a:sym typeface="Calibri"/>
            </a:endParaRPr>
          </a:p>
        </p:txBody>
      </p:sp>
      <p:sp>
        <p:nvSpPr>
          <p:cNvPr id="171" name="Google Shape;171;p16"/>
          <p:cNvSpPr/>
          <p:nvPr/>
        </p:nvSpPr>
        <p:spPr>
          <a:xfrm>
            <a:off x="3276600" y="1295400"/>
            <a:ext cx="1216572" cy="480270"/>
          </a:xfrm>
          <a:prstGeom prst="roundRect">
            <a:avLst>
              <a:gd fmla="val 16667" name="adj"/>
            </a:avLst>
          </a:prstGeom>
          <a:solidFill>
            <a:schemeClr val="accent2">
              <a:alpha val="8627"/>
            </a:schemeClr>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16"/>
          <p:cNvSpPr txBox="1"/>
          <p:nvPr/>
        </p:nvSpPr>
        <p:spPr>
          <a:xfrm>
            <a:off x="830318" y="4004846"/>
            <a:ext cx="99848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Industry</a:t>
            </a:r>
            <a:endParaRPr sz="1600">
              <a:solidFill>
                <a:schemeClr val="dk1"/>
              </a:solidFill>
              <a:latin typeface="Calibri"/>
              <a:ea typeface="Calibri"/>
              <a:cs typeface="Calibri"/>
              <a:sym typeface="Calibri"/>
            </a:endParaRPr>
          </a:p>
        </p:txBody>
      </p:sp>
      <p:sp>
        <p:nvSpPr>
          <p:cNvPr id="173" name="Google Shape;173;p16"/>
          <p:cNvSpPr txBox="1"/>
          <p:nvPr/>
        </p:nvSpPr>
        <p:spPr>
          <a:xfrm>
            <a:off x="1600200" y="4004846"/>
            <a:ext cx="99848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Skill</a:t>
            </a:r>
            <a:endParaRPr sz="1600">
              <a:solidFill>
                <a:schemeClr val="dk1"/>
              </a:solidFill>
              <a:latin typeface="Calibri"/>
              <a:ea typeface="Calibri"/>
              <a:cs typeface="Calibri"/>
              <a:sym typeface="Calibri"/>
            </a:endParaRPr>
          </a:p>
        </p:txBody>
      </p:sp>
      <p:sp>
        <p:nvSpPr>
          <p:cNvPr id="174" name="Google Shape;174;p16"/>
          <p:cNvSpPr txBox="1"/>
          <p:nvPr/>
        </p:nvSpPr>
        <p:spPr>
          <a:xfrm>
            <a:off x="2001934" y="4004846"/>
            <a:ext cx="11222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Personality</a:t>
            </a:r>
            <a:endParaRPr sz="1600">
              <a:solidFill>
                <a:schemeClr val="dk1"/>
              </a:solidFill>
              <a:latin typeface="Calibri"/>
              <a:ea typeface="Calibri"/>
              <a:cs typeface="Calibri"/>
              <a:sym typeface="Calibri"/>
            </a:endParaRPr>
          </a:p>
        </p:txBody>
      </p:sp>
      <p:sp>
        <p:nvSpPr>
          <p:cNvPr id="175" name="Google Shape;175;p16"/>
          <p:cNvSpPr txBox="1"/>
          <p:nvPr/>
        </p:nvSpPr>
        <p:spPr>
          <a:xfrm>
            <a:off x="785360" y="4270337"/>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Epidemiology  X</a:t>
            </a:r>
            <a:endParaRPr sz="1200">
              <a:solidFill>
                <a:schemeClr val="dk1"/>
              </a:solidFill>
              <a:latin typeface="Calibri"/>
              <a:ea typeface="Calibri"/>
              <a:cs typeface="Calibri"/>
              <a:sym typeface="Calibri"/>
            </a:endParaRPr>
          </a:p>
        </p:txBody>
      </p:sp>
      <p:sp>
        <p:nvSpPr>
          <p:cNvPr id="176" name="Google Shape;176;p16"/>
          <p:cNvSpPr txBox="1"/>
          <p:nvPr/>
        </p:nvSpPr>
        <p:spPr>
          <a:xfrm>
            <a:off x="785360" y="45236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Genetics  X</a:t>
            </a:r>
            <a:endParaRPr sz="1200">
              <a:solidFill>
                <a:schemeClr val="dk1"/>
              </a:solidFill>
              <a:latin typeface="Calibri"/>
              <a:ea typeface="Calibri"/>
              <a:cs typeface="Calibri"/>
              <a:sym typeface="Calibri"/>
            </a:endParaRPr>
          </a:p>
        </p:txBody>
      </p:sp>
      <p:sp>
        <p:nvSpPr>
          <p:cNvPr id="177" name="Google Shape;177;p16"/>
          <p:cNvSpPr txBox="1"/>
          <p:nvPr/>
        </p:nvSpPr>
        <p:spPr>
          <a:xfrm>
            <a:off x="785360" y="50570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Smart Lookup</a:t>
            </a:r>
            <a:endParaRPr sz="1200">
              <a:solidFill>
                <a:schemeClr val="dk1"/>
              </a:solidFill>
              <a:latin typeface="Calibri"/>
              <a:ea typeface="Calibri"/>
              <a:cs typeface="Calibri"/>
              <a:sym typeface="Calibri"/>
            </a:endParaRPr>
          </a:p>
        </p:txBody>
      </p:sp>
      <p:sp>
        <p:nvSpPr>
          <p:cNvPr id="178" name="Google Shape;178;p16"/>
          <p:cNvSpPr txBox="1"/>
          <p:nvPr/>
        </p:nvSpPr>
        <p:spPr>
          <a:xfrm>
            <a:off x="1828800" y="426169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German X</a:t>
            </a:r>
            <a:endParaRPr sz="1200">
              <a:solidFill>
                <a:schemeClr val="dk1"/>
              </a:solidFill>
              <a:latin typeface="Calibri"/>
              <a:ea typeface="Calibri"/>
              <a:cs typeface="Calibri"/>
              <a:sym typeface="Calibri"/>
            </a:endParaRPr>
          </a:p>
        </p:txBody>
      </p:sp>
      <p:sp>
        <p:nvSpPr>
          <p:cNvPr id="179" name="Google Shape;179;p16"/>
          <p:cNvSpPr txBox="1"/>
          <p:nvPr/>
        </p:nvSpPr>
        <p:spPr>
          <a:xfrm>
            <a:off x="1828800" y="45236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Russian X</a:t>
            </a:r>
            <a:endParaRPr sz="1200">
              <a:solidFill>
                <a:schemeClr val="dk1"/>
              </a:solidFill>
              <a:latin typeface="Calibri"/>
              <a:ea typeface="Calibri"/>
              <a:cs typeface="Calibri"/>
              <a:sym typeface="Calibri"/>
            </a:endParaRPr>
          </a:p>
        </p:txBody>
      </p:sp>
      <p:sp>
        <p:nvSpPr>
          <p:cNvPr id="180" name="Google Shape;180;p16"/>
          <p:cNvSpPr txBox="1"/>
          <p:nvPr/>
        </p:nvSpPr>
        <p:spPr>
          <a:xfrm>
            <a:off x="1826172" y="48284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SPSS X</a:t>
            </a:r>
            <a:endParaRPr sz="1200">
              <a:solidFill>
                <a:schemeClr val="dk1"/>
              </a:solidFill>
              <a:latin typeface="Calibri"/>
              <a:ea typeface="Calibri"/>
              <a:cs typeface="Calibri"/>
              <a:sym typeface="Calibri"/>
            </a:endParaRPr>
          </a:p>
        </p:txBody>
      </p:sp>
      <p:sp>
        <p:nvSpPr>
          <p:cNvPr id="181" name="Google Shape;181;p16"/>
          <p:cNvSpPr txBox="1"/>
          <p:nvPr/>
        </p:nvSpPr>
        <p:spPr>
          <a:xfrm>
            <a:off x="1852160" y="5065646"/>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Lookup</a:t>
            </a:r>
            <a:endParaRPr sz="1200">
              <a:solidFill>
                <a:schemeClr val="dk1"/>
              </a:solidFill>
              <a:latin typeface="Calibri"/>
              <a:ea typeface="Calibri"/>
              <a:cs typeface="Calibri"/>
              <a:sym typeface="Calibri"/>
            </a:endParaRPr>
          </a:p>
        </p:txBody>
      </p:sp>
      <p:sp>
        <p:nvSpPr>
          <p:cNvPr id="182" name="Google Shape;182;p16"/>
          <p:cNvSpPr txBox="1"/>
          <p:nvPr/>
        </p:nvSpPr>
        <p:spPr>
          <a:xfrm>
            <a:off x="2514600" y="50570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Lookup</a:t>
            </a:r>
            <a:endParaRPr sz="1200">
              <a:solidFill>
                <a:schemeClr val="dk1"/>
              </a:solidFill>
              <a:latin typeface="Calibri"/>
              <a:ea typeface="Calibri"/>
              <a:cs typeface="Calibri"/>
              <a:sym typeface="Calibri"/>
            </a:endParaRPr>
          </a:p>
        </p:txBody>
      </p:sp>
      <p:sp>
        <p:nvSpPr>
          <p:cNvPr id="183" name="Google Shape;183;p16"/>
          <p:cNvSpPr txBox="1"/>
          <p:nvPr/>
        </p:nvSpPr>
        <p:spPr>
          <a:xfrm>
            <a:off x="2514600" y="4267200"/>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Clever X</a:t>
            </a:r>
            <a:endParaRPr sz="1200">
              <a:solidFill>
                <a:schemeClr val="dk1"/>
              </a:solidFill>
              <a:latin typeface="Calibri"/>
              <a:ea typeface="Calibri"/>
              <a:cs typeface="Calibri"/>
              <a:sym typeface="Calibri"/>
            </a:endParaRPr>
          </a:p>
        </p:txBody>
      </p:sp>
      <p:sp>
        <p:nvSpPr>
          <p:cNvPr id="184" name="Google Shape;184;p16"/>
          <p:cNvSpPr txBox="1"/>
          <p:nvPr/>
        </p:nvSpPr>
        <p:spPr>
          <a:xfrm>
            <a:off x="2514600" y="45236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Fun X</a:t>
            </a:r>
            <a:endParaRPr sz="1200">
              <a:solidFill>
                <a:schemeClr val="dk1"/>
              </a:solidFill>
              <a:latin typeface="Calibri"/>
              <a:ea typeface="Calibri"/>
              <a:cs typeface="Calibri"/>
              <a:sym typeface="Calibri"/>
            </a:endParaRPr>
          </a:p>
        </p:txBody>
      </p:sp>
      <p:sp>
        <p:nvSpPr>
          <p:cNvPr id="185" name="Google Shape;185;p16"/>
          <p:cNvSpPr txBox="1"/>
          <p:nvPr/>
        </p:nvSpPr>
        <p:spPr>
          <a:xfrm>
            <a:off x="2514600" y="48284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Funny X</a:t>
            </a:r>
            <a:endParaRPr sz="1200">
              <a:solidFill>
                <a:schemeClr val="dk1"/>
              </a:solidFill>
              <a:latin typeface="Calibri"/>
              <a:ea typeface="Calibri"/>
              <a:cs typeface="Calibri"/>
              <a:sym typeface="Calibri"/>
            </a:endParaRPr>
          </a:p>
        </p:txBody>
      </p:sp>
      <p:sp>
        <p:nvSpPr>
          <p:cNvPr id="186" name="Google Shape;186;p16"/>
          <p:cNvSpPr txBox="1"/>
          <p:nvPr/>
        </p:nvSpPr>
        <p:spPr>
          <a:xfrm>
            <a:off x="785360" y="48284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Researcher X</a:t>
            </a:r>
            <a:endParaRPr sz="1200">
              <a:solidFill>
                <a:schemeClr val="dk1"/>
              </a:solidFill>
              <a:latin typeface="Calibri"/>
              <a:ea typeface="Calibri"/>
              <a:cs typeface="Calibri"/>
              <a:sym typeface="Calibri"/>
            </a:endParaRPr>
          </a:p>
        </p:txBody>
      </p:sp>
      <p:sp>
        <p:nvSpPr>
          <p:cNvPr id="187" name="Google Shape;187;p16"/>
          <p:cNvSpPr txBox="1"/>
          <p:nvPr/>
        </p:nvSpPr>
        <p:spPr>
          <a:xfrm>
            <a:off x="8915400" y="-1118652"/>
            <a:ext cx="4495800" cy="89562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RATE Game NOTES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Game activates when two profiles need a tie break.</a:t>
            </a:r>
            <a:endParaRPr/>
          </a:p>
          <a:p>
            <a:pPr indent="0" lvl="0" marL="0" marR="0" rtl="0" algn="l">
              <a:spcBef>
                <a:spcPts val="0"/>
              </a:spcBef>
              <a:spcAft>
                <a:spcPts val="0"/>
              </a:spcAft>
              <a:buNone/>
            </a:pP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Two tags have been identified as equal from the skills or personality fields.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For example, 2  profiles pulled from LinkedIn indicate two people tagged as “marketing”, “teamplayer”, “smart”, etc.  Then it asks who’s better?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word generated is by a tie.</a:t>
            </a:r>
            <a:endParaRPr/>
          </a:p>
          <a:p>
            <a:pPr indent="0" lvl="0" marL="0" marR="0" rtl="0" algn="l">
              <a:spcBef>
                <a:spcPts val="0"/>
              </a:spcBef>
              <a:spcAft>
                <a:spcPts val="0"/>
              </a:spcAft>
              <a:buNone/>
            </a:pP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profiles can be random if there are multiple ties.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User pushes profile to indicate better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After saved, it goes to the next profile.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system works like ELO – winners advance to play winners and losers play losers.  Then when there are tied records, there is game again.  This separation feeds the search engine to organize the list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game is generated on the home screen with a notification that shows up as a bell on the “rate”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16"/>
          <p:cNvSpPr txBox="1"/>
          <p:nvPr/>
        </p:nvSpPr>
        <p:spPr>
          <a:xfrm>
            <a:off x="6179426" y="3119735"/>
            <a:ext cx="1866900" cy="120032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Who’s better…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Teamplayer</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9" name="Google Shape;189;p16"/>
          <p:cNvPicPr preferRelativeResize="0"/>
          <p:nvPr/>
        </p:nvPicPr>
        <p:blipFill rotWithShape="1">
          <a:blip r:embed="rId9">
            <a:alphaModFix/>
          </a:blip>
          <a:srcRect b="0" l="0" r="0" t="0"/>
          <a:stretch/>
        </p:blipFill>
        <p:spPr>
          <a:xfrm>
            <a:off x="6153150" y="1908858"/>
            <a:ext cx="895350" cy="895350"/>
          </a:xfrm>
          <a:prstGeom prst="rect">
            <a:avLst/>
          </a:prstGeom>
          <a:noFill/>
          <a:ln>
            <a:noFill/>
          </a:ln>
        </p:spPr>
      </p:pic>
      <p:pic>
        <p:nvPicPr>
          <p:cNvPr descr="http://m.c.lnkd.licdn.com/media/p/6/005/024/15e/018a8c8.jpg" id="190" name="Google Shape;190;p16"/>
          <p:cNvPicPr preferRelativeResize="0"/>
          <p:nvPr/>
        </p:nvPicPr>
        <p:blipFill rotWithShape="1">
          <a:blip r:embed="rId10">
            <a:alphaModFix/>
          </a:blip>
          <a:srcRect b="0" l="0" r="0" t="0"/>
          <a:stretch/>
        </p:blipFill>
        <p:spPr>
          <a:xfrm>
            <a:off x="7239000" y="1908858"/>
            <a:ext cx="881765" cy="881765"/>
          </a:xfrm>
          <a:prstGeom prst="rect">
            <a:avLst/>
          </a:prstGeom>
          <a:noFill/>
          <a:ln>
            <a:noFill/>
          </a:ln>
        </p:spPr>
      </p:pic>
      <p:pic>
        <p:nvPicPr>
          <p:cNvPr id="191" name="Google Shape;191;p16"/>
          <p:cNvPicPr preferRelativeResize="0"/>
          <p:nvPr/>
        </p:nvPicPr>
        <p:blipFill rotWithShape="1">
          <a:blip r:embed="rId11">
            <a:alphaModFix/>
          </a:blip>
          <a:srcRect b="22671" l="36515" r="57436" t="72115"/>
          <a:stretch/>
        </p:blipFill>
        <p:spPr>
          <a:xfrm>
            <a:off x="5216088" y="5061466"/>
            <a:ext cx="390197" cy="252249"/>
          </a:xfrm>
          <a:prstGeom prst="rect">
            <a:avLst/>
          </a:prstGeom>
          <a:noFill/>
          <a:ln>
            <a:noFill/>
          </a:ln>
        </p:spPr>
      </p:pic>
      <p:pic>
        <p:nvPicPr>
          <p:cNvPr id="192" name="Google Shape;192;p16"/>
          <p:cNvPicPr preferRelativeResize="0"/>
          <p:nvPr/>
        </p:nvPicPr>
        <p:blipFill rotWithShape="1">
          <a:blip r:embed="rId11">
            <a:alphaModFix/>
          </a:blip>
          <a:srcRect b="22671" l="36515" r="57436" t="72115"/>
          <a:stretch/>
        </p:blipFill>
        <p:spPr>
          <a:xfrm>
            <a:off x="3648403" y="5069375"/>
            <a:ext cx="390197" cy="252249"/>
          </a:xfrm>
          <a:prstGeom prst="rect">
            <a:avLst/>
          </a:prstGeom>
          <a:noFill/>
          <a:ln>
            <a:noFill/>
          </a:ln>
        </p:spPr>
      </p:pic>
      <p:sp>
        <p:nvSpPr>
          <p:cNvPr id="193" name="Google Shape;193;p16"/>
          <p:cNvSpPr txBox="1"/>
          <p:nvPr/>
        </p:nvSpPr>
        <p:spPr>
          <a:xfrm>
            <a:off x="1905000" y="2514600"/>
            <a:ext cx="961841" cy="246221"/>
          </a:xfrm>
          <a:prstGeom prst="rect">
            <a:avLst/>
          </a:prstGeom>
          <a:solidFill>
            <a:srgbClr val="93B3D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View Resume</a:t>
            </a:r>
            <a:endParaRPr sz="1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17"/>
          <p:cNvPicPr preferRelativeResize="0"/>
          <p:nvPr>
            <p:ph idx="1" type="body"/>
          </p:nvPr>
        </p:nvPicPr>
        <p:blipFill rotWithShape="1">
          <a:blip r:embed="rId3">
            <a:alphaModFix/>
          </a:blip>
          <a:srcRect b="2058" l="35352" r="35727" t="2496"/>
          <a:stretch/>
        </p:blipFill>
        <p:spPr>
          <a:xfrm>
            <a:off x="3200400" y="110359"/>
            <a:ext cx="2590800" cy="6416565"/>
          </a:xfrm>
          <a:prstGeom prst="rect">
            <a:avLst/>
          </a:prstGeom>
          <a:noFill/>
          <a:ln>
            <a:noFill/>
          </a:ln>
        </p:spPr>
      </p:pic>
      <p:sp>
        <p:nvSpPr>
          <p:cNvPr id="199" name="Google Shape;199;p17"/>
          <p:cNvSpPr/>
          <p:nvPr/>
        </p:nvSpPr>
        <p:spPr>
          <a:xfrm>
            <a:off x="3352800" y="1295400"/>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17"/>
          <p:cNvSpPr/>
          <p:nvPr/>
        </p:nvSpPr>
        <p:spPr>
          <a:xfrm>
            <a:off x="3352800" y="1295400"/>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17"/>
          <p:cNvSpPr txBox="1"/>
          <p:nvPr/>
        </p:nvSpPr>
        <p:spPr>
          <a:xfrm>
            <a:off x="3352800" y="1295400"/>
            <a:ext cx="114431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Search…</a:t>
            </a:r>
            <a:endParaRPr sz="1800">
              <a:solidFill>
                <a:schemeClr val="dk1"/>
              </a:solidFill>
              <a:latin typeface="Calibri"/>
              <a:ea typeface="Calibri"/>
              <a:cs typeface="Calibri"/>
              <a:sym typeface="Calibri"/>
            </a:endParaRPr>
          </a:p>
        </p:txBody>
      </p:sp>
      <p:sp>
        <p:nvSpPr>
          <p:cNvPr id="202" name="Google Shape;202;p17"/>
          <p:cNvSpPr txBox="1"/>
          <p:nvPr/>
        </p:nvSpPr>
        <p:spPr>
          <a:xfrm>
            <a:off x="4495800" y="1353979"/>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ABC</a:t>
            </a:r>
            <a:endParaRPr sz="1000">
              <a:solidFill>
                <a:schemeClr val="dk1"/>
              </a:solidFill>
              <a:latin typeface="Calibri"/>
              <a:ea typeface="Calibri"/>
              <a:cs typeface="Calibri"/>
              <a:sym typeface="Calibri"/>
            </a:endParaRPr>
          </a:p>
        </p:txBody>
      </p:sp>
      <p:sp>
        <p:nvSpPr>
          <p:cNvPr id="203" name="Google Shape;203;p17"/>
          <p:cNvSpPr txBox="1"/>
          <p:nvPr/>
        </p:nvSpPr>
        <p:spPr>
          <a:xfrm>
            <a:off x="4800600" y="1353979"/>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You</a:t>
            </a:r>
            <a:endParaRPr sz="1000">
              <a:solidFill>
                <a:schemeClr val="dk1"/>
              </a:solidFill>
              <a:latin typeface="Calibri"/>
              <a:ea typeface="Calibri"/>
              <a:cs typeface="Calibri"/>
              <a:sym typeface="Calibri"/>
            </a:endParaRPr>
          </a:p>
        </p:txBody>
      </p:sp>
      <p:sp>
        <p:nvSpPr>
          <p:cNvPr id="204" name="Google Shape;204;p17"/>
          <p:cNvSpPr txBox="1"/>
          <p:nvPr/>
        </p:nvSpPr>
        <p:spPr>
          <a:xfrm>
            <a:off x="5029200" y="1371600"/>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NET</a:t>
            </a:r>
            <a:endParaRPr sz="1000">
              <a:solidFill>
                <a:schemeClr val="dk1"/>
              </a:solidFill>
              <a:latin typeface="Calibri"/>
              <a:ea typeface="Calibri"/>
              <a:cs typeface="Calibri"/>
              <a:sym typeface="Calibri"/>
            </a:endParaRPr>
          </a:p>
        </p:txBody>
      </p:sp>
      <p:cxnSp>
        <p:nvCxnSpPr>
          <p:cNvPr id="205" name="Google Shape;205;p17"/>
          <p:cNvCxnSpPr/>
          <p:nvPr/>
        </p:nvCxnSpPr>
        <p:spPr>
          <a:xfrm>
            <a:off x="4495800" y="1295400"/>
            <a:ext cx="0" cy="457200"/>
          </a:xfrm>
          <a:prstGeom prst="straightConnector1">
            <a:avLst/>
          </a:prstGeom>
          <a:noFill/>
          <a:ln cap="flat" cmpd="sng" w="9525">
            <a:solidFill>
              <a:schemeClr val="dk1"/>
            </a:solidFill>
            <a:prstDash val="solid"/>
            <a:round/>
            <a:headEnd len="sm" w="sm" type="none"/>
            <a:tailEnd len="sm" w="sm" type="none"/>
          </a:ln>
        </p:spPr>
      </p:cxnSp>
      <p:cxnSp>
        <p:nvCxnSpPr>
          <p:cNvPr id="206" name="Google Shape;206;p17"/>
          <p:cNvCxnSpPr/>
          <p:nvPr/>
        </p:nvCxnSpPr>
        <p:spPr>
          <a:xfrm>
            <a:off x="4800600" y="1295400"/>
            <a:ext cx="0" cy="457200"/>
          </a:xfrm>
          <a:prstGeom prst="straightConnector1">
            <a:avLst/>
          </a:prstGeom>
          <a:noFill/>
          <a:ln cap="flat" cmpd="sng" w="9525">
            <a:solidFill>
              <a:schemeClr val="dk1"/>
            </a:solidFill>
            <a:prstDash val="solid"/>
            <a:round/>
            <a:headEnd len="sm" w="sm" type="none"/>
            <a:tailEnd len="sm" w="sm" type="none"/>
          </a:ln>
        </p:spPr>
      </p:cxnSp>
      <p:cxnSp>
        <p:nvCxnSpPr>
          <p:cNvPr id="207" name="Google Shape;207;p17"/>
          <p:cNvCxnSpPr/>
          <p:nvPr/>
        </p:nvCxnSpPr>
        <p:spPr>
          <a:xfrm>
            <a:off x="5105400" y="1295400"/>
            <a:ext cx="0" cy="457200"/>
          </a:xfrm>
          <a:prstGeom prst="straightConnector1">
            <a:avLst/>
          </a:prstGeom>
          <a:noFill/>
          <a:ln cap="flat" cmpd="sng" w="9525">
            <a:solidFill>
              <a:schemeClr val="dk1"/>
            </a:solidFill>
            <a:prstDash val="solid"/>
            <a:round/>
            <a:headEnd len="sm" w="sm" type="none"/>
            <a:tailEnd len="sm" w="sm" type="none"/>
          </a:ln>
        </p:spPr>
      </p:cxnSp>
      <p:sp>
        <p:nvSpPr>
          <p:cNvPr id="208" name="Google Shape;208;p17"/>
          <p:cNvSpPr txBox="1"/>
          <p:nvPr/>
        </p:nvSpPr>
        <p:spPr>
          <a:xfrm>
            <a:off x="3352800" y="1676400"/>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Name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pic>
        <p:nvPicPr>
          <p:cNvPr id="209" name="Google Shape;209;p17"/>
          <p:cNvPicPr preferRelativeResize="0"/>
          <p:nvPr/>
        </p:nvPicPr>
        <p:blipFill rotWithShape="1">
          <a:blip r:embed="rId4">
            <a:alphaModFix/>
          </a:blip>
          <a:srcRect b="0" l="0" r="0" t="0"/>
          <a:stretch/>
        </p:blipFill>
        <p:spPr>
          <a:xfrm>
            <a:off x="3491487" y="1890713"/>
            <a:ext cx="623887" cy="623887"/>
          </a:xfrm>
          <a:prstGeom prst="rect">
            <a:avLst/>
          </a:prstGeom>
          <a:noFill/>
          <a:ln>
            <a:noFill/>
          </a:ln>
        </p:spPr>
      </p:pic>
      <p:sp>
        <p:nvSpPr>
          <p:cNvPr id="210" name="Google Shape;210;p17"/>
          <p:cNvSpPr txBox="1"/>
          <p:nvPr/>
        </p:nvSpPr>
        <p:spPr>
          <a:xfrm>
            <a:off x="3352800" y="2667000"/>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Name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211" name="Google Shape;211;p17"/>
          <p:cNvSpPr txBox="1"/>
          <p:nvPr/>
        </p:nvSpPr>
        <p:spPr>
          <a:xfrm>
            <a:off x="3350172" y="3676471"/>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Name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cxnSp>
        <p:nvCxnSpPr>
          <p:cNvPr id="212" name="Google Shape;212;p17"/>
          <p:cNvCxnSpPr/>
          <p:nvPr/>
        </p:nvCxnSpPr>
        <p:spPr>
          <a:xfrm>
            <a:off x="3352800" y="2743200"/>
            <a:ext cx="2283372" cy="0"/>
          </a:xfrm>
          <a:prstGeom prst="straightConnector1">
            <a:avLst/>
          </a:prstGeom>
          <a:noFill/>
          <a:ln cap="flat" cmpd="sng" w="9525">
            <a:solidFill>
              <a:schemeClr val="dk1"/>
            </a:solidFill>
            <a:prstDash val="solid"/>
            <a:round/>
            <a:headEnd len="sm" w="sm" type="none"/>
            <a:tailEnd len="sm" w="sm" type="none"/>
          </a:ln>
        </p:spPr>
      </p:cxnSp>
      <p:cxnSp>
        <p:nvCxnSpPr>
          <p:cNvPr id="213" name="Google Shape;213;p17"/>
          <p:cNvCxnSpPr/>
          <p:nvPr/>
        </p:nvCxnSpPr>
        <p:spPr>
          <a:xfrm>
            <a:off x="3355428" y="3733800"/>
            <a:ext cx="2283372" cy="0"/>
          </a:xfrm>
          <a:prstGeom prst="straightConnector1">
            <a:avLst/>
          </a:prstGeom>
          <a:noFill/>
          <a:ln cap="flat" cmpd="sng" w="9525">
            <a:solidFill>
              <a:schemeClr val="dk1"/>
            </a:solidFill>
            <a:prstDash val="solid"/>
            <a:round/>
            <a:headEnd len="sm" w="sm" type="none"/>
            <a:tailEnd len="sm" w="sm" type="none"/>
          </a:ln>
        </p:spPr>
      </p:cxnSp>
      <p:cxnSp>
        <p:nvCxnSpPr>
          <p:cNvPr id="214" name="Google Shape;214;p17"/>
          <p:cNvCxnSpPr/>
          <p:nvPr/>
        </p:nvCxnSpPr>
        <p:spPr>
          <a:xfrm>
            <a:off x="3339662" y="4800600"/>
            <a:ext cx="2283372" cy="0"/>
          </a:xfrm>
          <a:prstGeom prst="straightConnector1">
            <a:avLst/>
          </a:prstGeom>
          <a:noFill/>
          <a:ln cap="flat" cmpd="sng" w="9525">
            <a:solidFill>
              <a:schemeClr val="dk1"/>
            </a:solidFill>
            <a:prstDash val="solid"/>
            <a:round/>
            <a:headEnd len="sm" w="sm" type="none"/>
            <a:tailEnd len="sm" w="sm" type="none"/>
          </a:ln>
        </p:spPr>
      </p:cxnSp>
      <p:sp>
        <p:nvSpPr>
          <p:cNvPr id="215" name="Google Shape;215;p17"/>
          <p:cNvSpPr txBox="1"/>
          <p:nvPr/>
        </p:nvSpPr>
        <p:spPr>
          <a:xfrm>
            <a:off x="3355428" y="4859179"/>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Contacts</a:t>
            </a:r>
            <a:endParaRPr sz="1000">
              <a:solidFill>
                <a:schemeClr val="dk1"/>
              </a:solidFill>
              <a:latin typeface="Calibri"/>
              <a:ea typeface="Calibri"/>
              <a:cs typeface="Calibri"/>
              <a:sym typeface="Calibri"/>
            </a:endParaRPr>
          </a:p>
        </p:txBody>
      </p:sp>
      <p:sp>
        <p:nvSpPr>
          <p:cNvPr id="216" name="Google Shape;216;p17"/>
          <p:cNvSpPr txBox="1"/>
          <p:nvPr/>
        </p:nvSpPr>
        <p:spPr>
          <a:xfrm>
            <a:off x="4117141" y="4859179"/>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Profile</a:t>
            </a:r>
            <a:endParaRPr sz="1000">
              <a:solidFill>
                <a:schemeClr val="dk1"/>
              </a:solidFill>
              <a:latin typeface="Calibri"/>
              <a:ea typeface="Calibri"/>
              <a:cs typeface="Calibri"/>
              <a:sym typeface="Calibri"/>
            </a:endParaRPr>
          </a:p>
        </p:txBody>
      </p:sp>
      <p:sp>
        <p:nvSpPr>
          <p:cNvPr id="217" name="Google Shape;217;p17"/>
          <p:cNvSpPr txBox="1"/>
          <p:nvPr/>
        </p:nvSpPr>
        <p:spPr>
          <a:xfrm>
            <a:off x="4825562" y="4859178"/>
            <a:ext cx="759946"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Bee’s Chest</a:t>
            </a:r>
            <a:endParaRPr sz="1000">
              <a:solidFill>
                <a:schemeClr val="dk1"/>
              </a:solidFill>
              <a:latin typeface="Calibri"/>
              <a:ea typeface="Calibri"/>
              <a:cs typeface="Calibri"/>
              <a:sym typeface="Calibri"/>
            </a:endParaRPr>
          </a:p>
        </p:txBody>
      </p:sp>
      <p:pic>
        <p:nvPicPr>
          <p:cNvPr id="218" name="Google Shape;218;p17"/>
          <p:cNvPicPr preferRelativeResize="0"/>
          <p:nvPr/>
        </p:nvPicPr>
        <p:blipFill rotWithShape="1">
          <a:blip r:embed="rId3">
            <a:alphaModFix/>
          </a:blip>
          <a:srcRect b="2058" l="35352" r="35727" t="2496"/>
          <a:stretch/>
        </p:blipFill>
        <p:spPr>
          <a:xfrm>
            <a:off x="696310" y="106417"/>
            <a:ext cx="2590800" cy="6416565"/>
          </a:xfrm>
          <a:prstGeom prst="rect">
            <a:avLst/>
          </a:prstGeom>
          <a:noFill/>
          <a:ln>
            <a:noFill/>
          </a:ln>
        </p:spPr>
      </p:pic>
      <p:sp>
        <p:nvSpPr>
          <p:cNvPr id="219" name="Google Shape;219;p17"/>
          <p:cNvSpPr/>
          <p:nvPr/>
        </p:nvSpPr>
        <p:spPr>
          <a:xfrm>
            <a:off x="848710" y="1291458"/>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 name="Google Shape;220;p17"/>
          <p:cNvSpPr/>
          <p:nvPr/>
        </p:nvSpPr>
        <p:spPr>
          <a:xfrm>
            <a:off x="848710" y="1291458"/>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21" name="Google Shape;221;p17"/>
          <p:cNvPicPr preferRelativeResize="0"/>
          <p:nvPr/>
        </p:nvPicPr>
        <p:blipFill rotWithShape="1">
          <a:blip r:embed="rId5">
            <a:alphaModFix/>
          </a:blip>
          <a:srcRect b="0" l="0" r="0" t="0"/>
          <a:stretch/>
        </p:blipFill>
        <p:spPr>
          <a:xfrm>
            <a:off x="3491487" y="3962400"/>
            <a:ext cx="608587" cy="615875"/>
          </a:xfrm>
          <a:prstGeom prst="rect">
            <a:avLst/>
          </a:prstGeom>
          <a:noFill/>
          <a:ln>
            <a:noFill/>
          </a:ln>
        </p:spPr>
      </p:pic>
      <p:pic>
        <p:nvPicPr>
          <p:cNvPr id="222" name="Google Shape;222;p17"/>
          <p:cNvPicPr preferRelativeResize="0"/>
          <p:nvPr/>
        </p:nvPicPr>
        <p:blipFill rotWithShape="1">
          <a:blip r:embed="rId6">
            <a:alphaModFix/>
          </a:blip>
          <a:srcRect b="0" l="0" r="0" t="0"/>
          <a:stretch/>
        </p:blipFill>
        <p:spPr>
          <a:xfrm>
            <a:off x="3490460" y="2912681"/>
            <a:ext cx="593093" cy="668719"/>
          </a:xfrm>
          <a:prstGeom prst="rect">
            <a:avLst/>
          </a:prstGeom>
          <a:noFill/>
          <a:ln>
            <a:noFill/>
          </a:ln>
        </p:spPr>
      </p:pic>
      <p:cxnSp>
        <p:nvCxnSpPr>
          <p:cNvPr id="223" name="Google Shape;223;p17"/>
          <p:cNvCxnSpPr/>
          <p:nvPr/>
        </p:nvCxnSpPr>
        <p:spPr>
          <a:xfrm flipH="1">
            <a:off x="2590800" y="1245843"/>
            <a:ext cx="2893115" cy="278157"/>
          </a:xfrm>
          <a:prstGeom prst="straightConnector1">
            <a:avLst/>
          </a:prstGeom>
          <a:noFill/>
          <a:ln cap="flat" cmpd="sng" w="9525">
            <a:solidFill>
              <a:srgbClr val="002060"/>
            </a:solidFill>
            <a:prstDash val="solid"/>
            <a:round/>
            <a:headEnd len="sm" w="sm" type="none"/>
            <a:tailEnd len="med" w="med" type="stealth"/>
          </a:ln>
        </p:spPr>
      </p:cxnSp>
      <p:pic>
        <p:nvPicPr>
          <p:cNvPr id="224" name="Google Shape;224;p17"/>
          <p:cNvPicPr preferRelativeResize="0"/>
          <p:nvPr/>
        </p:nvPicPr>
        <p:blipFill rotWithShape="1">
          <a:blip r:embed="rId7">
            <a:alphaModFix/>
          </a:blip>
          <a:srcRect b="0" l="0" r="0" t="0"/>
          <a:stretch/>
        </p:blipFill>
        <p:spPr>
          <a:xfrm>
            <a:off x="848710" y="1308539"/>
            <a:ext cx="250934" cy="468970"/>
          </a:xfrm>
          <a:prstGeom prst="rect">
            <a:avLst/>
          </a:prstGeom>
          <a:noFill/>
          <a:ln>
            <a:noFill/>
          </a:ln>
        </p:spPr>
      </p:pic>
      <p:cxnSp>
        <p:nvCxnSpPr>
          <p:cNvPr id="225" name="Google Shape;225;p17"/>
          <p:cNvCxnSpPr/>
          <p:nvPr/>
        </p:nvCxnSpPr>
        <p:spPr>
          <a:xfrm>
            <a:off x="4038600" y="4806240"/>
            <a:ext cx="0" cy="457200"/>
          </a:xfrm>
          <a:prstGeom prst="straightConnector1">
            <a:avLst/>
          </a:prstGeom>
          <a:noFill/>
          <a:ln cap="flat" cmpd="sng" w="9525">
            <a:solidFill>
              <a:schemeClr val="dk1"/>
            </a:solidFill>
            <a:prstDash val="solid"/>
            <a:round/>
            <a:headEnd len="sm" w="sm" type="none"/>
            <a:tailEnd len="sm" w="sm" type="none"/>
          </a:ln>
        </p:spPr>
      </p:cxnSp>
      <p:cxnSp>
        <p:nvCxnSpPr>
          <p:cNvPr id="226" name="Google Shape;226;p17"/>
          <p:cNvCxnSpPr/>
          <p:nvPr/>
        </p:nvCxnSpPr>
        <p:spPr>
          <a:xfrm>
            <a:off x="4791403" y="4806625"/>
            <a:ext cx="0" cy="457200"/>
          </a:xfrm>
          <a:prstGeom prst="straightConnector1">
            <a:avLst/>
          </a:prstGeom>
          <a:noFill/>
          <a:ln cap="flat" cmpd="sng" w="9525">
            <a:solidFill>
              <a:schemeClr val="dk1"/>
            </a:solidFill>
            <a:prstDash val="solid"/>
            <a:round/>
            <a:headEnd len="sm" w="sm" type="none"/>
            <a:tailEnd len="sm" w="sm" type="none"/>
          </a:ln>
        </p:spPr>
      </p:cxnSp>
      <p:sp>
        <p:nvSpPr>
          <p:cNvPr id="227" name="Google Shape;227;p17"/>
          <p:cNvSpPr txBox="1"/>
          <p:nvPr/>
        </p:nvSpPr>
        <p:spPr>
          <a:xfrm>
            <a:off x="4838700" y="-7883"/>
            <a:ext cx="11430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Settings</a:t>
            </a:r>
            <a:endParaRPr sz="1800">
              <a:solidFill>
                <a:schemeClr val="dk1"/>
              </a:solidFill>
              <a:latin typeface="Calibri"/>
              <a:ea typeface="Calibri"/>
              <a:cs typeface="Calibri"/>
              <a:sym typeface="Calibri"/>
            </a:endParaRPr>
          </a:p>
        </p:txBody>
      </p:sp>
      <p:cxnSp>
        <p:nvCxnSpPr>
          <p:cNvPr id="228" name="Google Shape;228;p17"/>
          <p:cNvCxnSpPr/>
          <p:nvPr/>
        </p:nvCxnSpPr>
        <p:spPr>
          <a:xfrm>
            <a:off x="5410200" y="361449"/>
            <a:ext cx="87368" cy="899847"/>
          </a:xfrm>
          <a:prstGeom prst="straightConnector1">
            <a:avLst/>
          </a:prstGeom>
          <a:noFill/>
          <a:ln cap="flat" cmpd="sng" w="9525">
            <a:solidFill>
              <a:srgbClr val="002060"/>
            </a:solidFill>
            <a:prstDash val="solid"/>
            <a:round/>
            <a:headEnd len="sm" w="sm" type="none"/>
            <a:tailEnd len="med" w="med" type="stealth"/>
          </a:ln>
        </p:spPr>
      </p:cxnSp>
      <p:sp>
        <p:nvSpPr>
          <p:cNvPr id="229" name="Google Shape;229;p17"/>
          <p:cNvSpPr txBox="1"/>
          <p:nvPr/>
        </p:nvSpPr>
        <p:spPr>
          <a:xfrm>
            <a:off x="1181100" y="1326196"/>
            <a:ext cx="11049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Settings</a:t>
            </a:r>
            <a:endParaRPr b="1" sz="1800">
              <a:solidFill>
                <a:schemeClr val="dk1"/>
              </a:solidFill>
              <a:latin typeface="Calibri"/>
              <a:ea typeface="Calibri"/>
              <a:cs typeface="Calibri"/>
              <a:sym typeface="Calibri"/>
            </a:endParaRPr>
          </a:p>
        </p:txBody>
      </p:sp>
      <p:sp>
        <p:nvSpPr>
          <p:cNvPr id="230" name="Google Shape;230;p17"/>
          <p:cNvSpPr/>
          <p:nvPr/>
        </p:nvSpPr>
        <p:spPr>
          <a:xfrm>
            <a:off x="3276600" y="1295400"/>
            <a:ext cx="1216572" cy="480270"/>
          </a:xfrm>
          <a:prstGeom prst="roundRect">
            <a:avLst>
              <a:gd fmla="val 16667" name="adj"/>
            </a:avLst>
          </a:prstGeom>
          <a:solidFill>
            <a:schemeClr val="accent2">
              <a:alpha val="8627"/>
            </a:schemeClr>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31" name="Google Shape;231;p17"/>
          <p:cNvPicPr preferRelativeResize="0"/>
          <p:nvPr/>
        </p:nvPicPr>
        <p:blipFill rotWithShape="1">
          <a:blip r:embed="rId7">
            <a:alphaModFix/>
          </a:blip>
          <a:srcRect b="0" l="0" r="0" t="0"/>
          <a:stretch/>
        </p:blipFill>
        <p:spPr>
          <a:xfrm>
            <a:off x="5417425" y="1305097"/>
            <a:ext cx="250934" cy="468970"/>
          </a:xfrm>
          <a:prstGeom prst="rect">
            <a:avLst/>
          </a:prstGeom>
          <a:noFill/>
          <a:ln>
            <a:noFill/>
          </a:ln>
        </p:spPr>
      </p:pic>
      <p:pic>
        <p:nvPicPr>
          <p:cNvPr id="232" name="Google Shape;232;p17"/>
          <p:cNvPicPr preferRelativeResize="0"/>
          <p:nvPr/>
        </p:nvPicPr>
        <p:blipFill rotWithShape="1">
          <a:blip r:embed="rId3">
            <a:alphaModFix/>
          </a:blip>
          <a:srcRect b="2058" l="35352" r="35727" t="2496"/>
          <a:stretch/>
        </p:blipFill>
        <p:spPr>
          <a:xfrm>
            <a:off x="5825071" y="106417"/>
            <a:ext cx="2590800" cy="6416565"/>
          </a:xfrm>
          <a:prstGeom prst="rect">
            <a:avLst/>
          </a:prstGeom>
          <a:noFill/>
          <a:ln>
            <a:noFill/>
          </a:ln>
        </p:spPr>
      </p:pic>
      <p:sp>
        <p:nvSpPr>
          <p:cNvPr id="233" name="Google Shape;233;p17"/>
          <p:cNvSpPr/>
          <p:nvPr/>
        </p:nvSpPr>
        <p:spPr>
          <a:xfrm>
            <a:off x="5977471" y="1291458"/>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7"/>
          <p:cNvSpPr/>
          <p:nvPr/>
        </p:nvSpPr>
        <p:spPr>
          <a:xfrm>
            <a:off x="5977471" y="1291458"/>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7"/>
          <p:cNvSpPr txBox="1"/>
          <p:nvPr/>
        </p:nvSpPr>
        <p:spPr>
          <a:xfrm>
            <a:off x="5919664" y="2605207"/>
            <a:ext cx="2286000" cy="166199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Company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Previous company       Position</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Last University	             Degree</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Undergrad University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Other univ.</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236" name="Google Shape;236;p17"/>
          <p:cNvSpPr txBox="1"/>
          <p:nvPr/>
        </p:nvSpPr>
        <p:spPr>
          <a:xfrm>
            <a:off x="5959079" y="4004846"/>
            <a:ext cx="99848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Industry</a:t>
            </a:r>
            <a:endParaRPr sz="1600">
              <a:solidFill>
                <a:schemeClr val="dk1"/>
              </a:solidFill>
              <a:latin typeface="Calibri"/>
              <a:ea typeface="Calibri"/>
              <a:cs typeface="Calibri"/>
              <a:sym typeface="Calibri"/>
            </a:endParaRPr>
          </a:p>
        </p:txBody>
      </p:sp>
      <p:sp>
        <p:nvSpPr>
          <p:cNvPr id="237" name="Google Shape;237;p17"/>
          <p:cNvSpPr txBox="1"/>
          <p:nvPr/>
        </p:nvSpPr>
        <p:spPr>
          <a:xfrm>
            <a:off x="6728961" y="4004846"/>
            <a:ext cx="99848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Skill</a:t>
            </a:r>
            <a:endParaRPr sz="1600">
              <a:solidFill>
                <a:schemeClr val="dk1"/>
              </a:solidFill>
              <a:latin typeface="Calibri"/>
              <a:ea typeface="Calibri"/>
              <a:cs typeface="Calibri"/>
              <a:sym typeface="Calibri"/>
            </a:endParaRPr>
          </a:p>
        </p:txBody>
      </p:sp>
      <p:sp>
        <p:nvSpPr>
          <p:cNvPr id="238" name="Google Shape;238;p17"/>
          <p:cNvSpPr txBox="1"/>
          <p:nvPr/>
        </p:nvSpPr>
        <p:spPr>
          <a:xfrm>
            <a:off x="7130695" y="4004846"/>
            <a:ext cx="11222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Personality</a:t>
            </a:r>
            <a:endParaRPr sz="1600">
              <a:solidFill>
                <a:schemeClr val="dk1"/>
              </a:solidFill>
              <a:latin typeface="Calibri"/>
              <a:ea typeface="Calibri"/>
              <a:cs typeface="Calibri"/>
              <a:sym typeface="Calibri"/>
            </a:endParaRPr>
          </a:p>
        </p:txBody>
      </p:sp>
      <p:sp>
        <p:nvSpPr>
          <p:cNvPr id="239" name="Google Shape;239;p17"/>
          <p:cNvSpPr txBox="1"/>
          <p:nvPr/>
        </p:nvSpPr>
        <p:spPr>
          <a:xfrm>
            <a:off x="5914121" y="4270337"/>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Tech X</a:t>
            </a:r>
            <a:endParaRPr sz="1200">
              <a:solidFill>
                <a:schemeClr val="dk1"/>
              </a:solidFill>
              <a:latin typeface="Calibri"/>
              <a:ea typeface="Calibri"/>
              <a:cs typeface="Calibri"/>
              <a:sym typeface="Calibri"/>
            </a:endParaRPr>
          </a:p>
        </p:txBody>
      </p:sp>
      <p:sp>
        <p:nvSpPr>
          <p:cNvPr id="240" name="Google Shape;240;p17"/>
          <p:cNvSpPr txBox="1"/>
          <p:nvPr/>
        </p:nvSpPr>
        <p:spPr>
          <a:xfrm>
            <a:off x="5914121" y="45236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Market Res X</a:t>
            </a:r>
            <a:endParaRPr sz="1200">
              <a:solidFill>
                <a:schemeClr val="dk1"/>
              </a:solidFill>
              <a:latin typeface="Calibri"/>
              <a:ea typeface="Calibri"/>
              <a:cs typeface="Calibri"/>
              <a:sym typeface="Calibri"/>
            </a:endParaRPr>
          </a:p>
        </p:txBody>
      </p:sp>
      <p:sp>
        <p:nvSpPr>
          <p:cNvPr id="241" name="Google Shape;241;p17"/>
          <p:cNvSpPr txBox="1"/>
          <p:nvPr/>
        </p:nvSpPr>
        <p:spPr>
          <a:xfrm>
            <a:off x="5914121" y="50570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Smart Lookup</a:t>
            </a:r>
            <a:endParaRPr sz="1200">
              <a:solidFill>
                <a:schemeClr val="dk1"/>
              </a:solidFill>
              <a:latin typeface="Calibri"/>
              <a:ea typeface="Calibri"/>
              <a:cs typeface="Calibri"/>
              <a:sym typeface="Calibri"/>
            </a:endParaRPr>
          </a:p>
        </p:txBody>
      </p:sp>
      <p:sp>
        <p:nvSpPr>
          <p:cNvPr id="242" name="Google Shape;242;p17"/>
          <p:cNvSpPr txBox="1"/>
          <p:nvPr/>
        </p:nvSpPr>
        <p:spPr>
          <a:xfrm>
            <a:off x="6957561" y="426169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Marketing X</a:t>
            </a:r>
            <a:endParaRPr sz="1200">
              <a:solidFill>
                <a:schemeClr val="dk1"/>
              </a:solidFill>
              <a:latin typeface="Calibri"/>
              <a:ea typeface="Calibri"/>
              <a:cs typeface="Calibri"/>
              <a:sym typeface="Calibri"/>
            </a:endParaRPr>
          </a:p>
        </p:txBody>
      </p:sp>
      <p:sp>
        <p:nvSpPr>
          <p:cNvPr id="243" name="Google Shape;243;p17"/>
          <p:cNvSpPr txBox="1"/>
          <p:nvPr/>
        </p:nvSpPr>
        <p:spPr>
          <a:xfrm>
            <a:off x="6957561" y="45236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Spanish X</a:t>
            </a:r>
            <a:endParaRPr sz="1200">
              <a:solidFill>
                <a:schemeClr val="dk1"/>
              </a:solidFill>
              <a:latin typeface="Calibri"/>
              <a:ea typeface="Calibri"/>
              <a:cs typeface="Calibri"/>
              <a:sym typeface="Calibri"/>
            </a:endParaRPr>
          </a:p>
        </p:txBody>
      </p:sp>
      <p:sp>
        <p:nvSpPr>
          <p:cNvPr id="244" name="Google Shape;244;p17"/>
          <p:cNvSpPr txBox="1"/>
          <p:nvPr/>
        </p:nvSpPr>
        <p:spPr>
          <a:xfrm>
            <a:off x="6957560" y="48284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Chess X</a:t>
            </a:r>
            <a:endParaRPr sz="1200">
              <a:solidFill>
                <a:schemeClr val="dk1"/>
              </a:solidFill>
              <a:latin typeface="Calibri"/>
              <a:ea typeface="Calibri"/>
              <a:cs typeface="Calibri"/>
              <a:sym typeface="Calibri"/>
            </a:endParaRPr>
          </a:p>
        </p:txBody>
      </p:sp>
      <p:sp>
        <p:nvSpPr>
          <p:cNvPr id="245" name="Google Shape;245;p17"/>
          <p:cNvSpPr txBox="1"/>
          <p:nvPr/>
        </p:nvSpPr>
        <p:spPr>
          <a:xfrm>
            <a:off x="6980921" y="5065646"/>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Lookup</a:t>
            </a:r>
            <a:endParaRPr sz="1200">
              <a:solidFill>
                <a:schemeClr val="dk1"/>
              </a:solidFill>
              <a:latin typeface="Calibri"/>
              <a:ea typeface="Calibri"/>
              <a:cs typeface="Calibri"/>
              <a:sym typeface="Calibri"/>
            </a:endParaRPr>
          </a:p>
        </p:txBody>
      </p:sp>
      <p:sp>
        <p:nvSpPr>
          <p:cNvPr id="246" name="Google Shape;246;p17"/>
          <p:cNvSpPr txBox="1"/>
          <p:nvPr/>
        </p:nvSpPr>
        <p:spPr>
          <a:xfrm>
            <a:off x="5914121" y="48284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Restaurant X</a:t>
            </a:r>
            <a:endParaRPr sz="1200">
              <a:solidFill>
                <a:schemeClr val="dk1"/>
              </a:solidFill>
              <a:latin typeface="Calibri"/>
              <a:ea typeface="Calibri"/>
              <a:cs typeface="Calibri"/>
              <a:sym typeface="Calibri"/>
            </a:endParaRPr>
          </a:p>
        </p:txBody>
      </p:sp>
      <p:sp>
        <p:nvSpPr>
          <p:cNvPr id="247" name="Google Shape;247;p17"/>
          <p:cNvSpPr txBox="1"/>
          <p:nvPr/>
        </p:nvSpPr>
        <p:spPr>
          <a:xfrm>
            <a:off x="6015571" y="1319435"/>
            <a:ext cx="11049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Profile</a:t>
            </a:r>
            <a:endParaRPr b="1" sz="1800">
              <a:solidFill>
                <a:schemeClr val="dk1"/>
              </a:solidFill>
              <a:latin typeface="Calibri"/>
              <a:ea typeface="Calibri"/>
              <a:cs typeface="Calibri"/>
              <a:sym typeface="Calibri"/>
            </a:endParaRPr>
          </a:p>
        </p:txBody>
      </p:sp>
      <p:pic>
        <p:nvPicPr>
          <p:cNvPr id="248" name="Google Shape;248;p17"/>
          <p:cNvPicPr preferRelativeResize="0"/>
          <p:nvPr/>
        </p:nvPicPr>
        <p:blipFill rotWithShape="1">
          <a:blip r:embed="rId4">
            <a:alphaModFix/>
          </a:blip>
          <a:srcRect b="0" l="0" r="0" t="0"/>
          <a:stretch/>
        </p:blipFill>
        <p:spPr>
          <a:xfrm>
            <a:off x="6051063" y="1938093"/>
            <a:ext cx="623887" cy="623887"/>
          </a:xfrm>
          <a:prstGeom prst="rect">
            <a:avLst/>
          </a:prstGeom>
          <a:noFill/>
          <a:ln>
            <a:noFill/>
          </a:ln>
        </p:spPr>
      </p:pic>
      <p:sp>
        <p:nvSpPr>
          <p:cNvPr id="249" name="Google Shape;249;p17"/>
          <p:cNvSpPr txBox="1"/>
          <p:nvPr/>
        </p:nvSpPr>
        <p:spPr>
          <a:xfrm>
            <a:off x="6702541" y="1828800"/>
            <a:ext cx="2286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Cell</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Work Phone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Email</a:t>
            </a:r>
            <a:endParaRPr sz="1800">
              <a:solidFill>
                <a:schemeClr val="dk1"/>
              </a:solidFill>
              <a:latin typeface="Calibri"/>
              <a:ea typeface="Calibri"/>
              <a:cs typeface="Calibri"/>
              <a:sym typeface="Calibri"/>
            </a:endParaRPr>
          </a:p>
        </p:txBody>
      </p:sp>
      <p:sp>
        <p:nvSpPr>
          <p:cNvPr id="250" name="Google Shape;250;p17"/>
          <p:cNvSpPr txBox="1"/>
          <p:nvPr/>
        </p:nvSpPr>
        <p:spPr>
          <a:xfrm>
            <a:off x="7772400" y="4261437"/>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Fun X</a:t>
            </a:r>
            <a:endParaRPr sz="1200">
              <a:solidFill>
                <a:schemeClr val="dk1"/>
              </a:solidFill>
              <a:latin typeface="Calibri"/>
              <a:ea typeface="Calibri"/>
              <a:cs typeface="Calibri"/>
              <a:sym typeface="Calibri"/>
            </a:endParaRPr>
          </a:p>
        </p:txBody>
      </p:sp>
      <p:sp>
        <p:nvSpPr>
          <p:cNvPr id="251" name="Google Shape;251;p17"/>
          <p:cNvSpPr txBox="1"/>
          <p:nvPr/>
        </p:nvSpPr>
        <p:spPr>
          <a:xfrm>
            <a:off x="7743352" y="4538690"/>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Leader X</a:t>
            </a:r>
            <a:endParaRPr sz="1200">
              <a:solidFill>
                <a:schemeClr val="dk1"/>
              </a:solidFill>
              <a:latin typeface="Calibri"/>
              <a:ea typeface="Calibri"/>
              <a:cs typeface="Calibri"/>
              <a:sym typeface="Calibri"/>
            </a:endParaRPr>
          </a:p>
        </p:txBody>
      </p:sp>
      <p:sp>
        <p:nvSpPr>
          <p:cNvPr id="252" name="Google Shape;252;p17"/>
          <p:cNvSpPr txBox="1"/>
          <p:nvPr/>
        </p:nvSpPr>
        <p:spPr>
          <a:xfrm>
            <a:off x="7719560" y="4828401"/>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Friendly X</a:t>
            </a:r>
            <a:endParaRPr sz="1200">
              <a:solidFill>
                <a:schemeClr val="dk1"/>
              </a:solidFill>
              <a:latin typeface="Calibri"/>
              <a:ea typeface="Calibri"/>
              <a:cs typeface="Calibri"/>
              <a:sym typeface="Calibri"/>
            </a:endParaRPr>
          </a:p>
        </p:txBody>
      </p:sp>
      <p:sp>
        <p:nvSpPr>
          <p:cNvPr id="253" name="Google Shape;253;p17"/>
          <p:cNvSpPr txBox="1"/>
          <p:nvPr/>
        </p:nvSpPr>
        <p:spPr>
          <a:xfrm>
            <a:off x="7719560" y="5105400"/>
            <a:ext cx="1576840"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Lookup</a:t>
            </a:r>
            <a:endParaRPr sz="1200">
              <a:solidFill>
                <a:schemeClr val="dk1"/>
              </a:solidFill>
              <a:latin typeface="Calibri"/>
              <a:ea typeface="Calibri"/>
              <a:cs typeface="Calibri"/>
              <a:sym typeface="Calibri"/>
            </a:endParaRPr>
          </a:p>
        </p:txBody>
      </p:sp>
      <p:sp>
        <p:nvSpPr>
          <p:cNvPr id="254" name="Google Shape;254;p17"/>
          <p:cNvSpPr txBox="1"/>
          <p:nvPr/>
        </p:nvSpPr>
        <p:spPr>
          <a:xfrm>
            <a:off x="8507980" y="184666"/>
            <a:ext cx="4524703" cy="28007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Profile is pretty much the same as Contacts.</a:t>
            </a:r>
            <a:endParaRPr/>
          </a:p>
          <a:p>
            <a:pPr indent="0" lvl="0" marL="0" marR="0" rtl="0" algn="l">
              <a:spcBef>
                <a:spcPts val="0"/>
              </a:spcBef>
              <a:spcAft>
                <a:spcPts val="0"/>
              </a:spcAft>
              <a:buNone/>
            </a:pP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What you fill out for your own profile should be the first attributes that others see  and can evaluate before pulling from LinkedIn.  LinkedIn is the default for people who haven’t subscribed yet.</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Same scroll feature to access more info.</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Resume button lets user save PDF or Word Doc of Resume from LinkedIn or wherever stores.</a:t>
            </a:r>
            <a:endParaRPr/>
          </a:p>
        </p:txBody>
      </p:sp>
      <p:sp>
        <p:nvSpPr>
          <p:cNvPr id="255" name="Google Shape;255;p17"/>
          <p:cNvSpPr txBox="1"/>
          <p:nvPr/>
        </p:nvSpPr>
        <p:spPr>
          <a:xfrm>
            <a:off x="7062664" y="1295400"/>
            <a:ext cx="1187669" cy="369332"/>
          </a:xfrm>
          <a:prstGeom prst="rect">
            <a:avLst/>
          </a:prstGeom>
          <a:solidFill>
            <a:srgbClr val="93B3D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Resume</a:t>
            </a:r>
            <a:endParaRPr sz="1800">
              <a:solidFill>
                <a:schemeClr val="dk1"/>
              </a:solidFill>
              <a:latin typeface="Calibri"/>
              <a:ea typeface="Calibri"/>
              <a:cs typeface="Calibri"/>
              <a:sym typeface="Calibri"/>
            </a:endParaRPr>
          </a:p>
        </p:txBody>
      </p:sp>
      <p:sp>
        <p:nvSpPr>
          <p:cNvPr id="256" name="Google Shape;256;p17"/>
          <p:cNvSpPr txBox="1"/>
          <p:nvPr/>
        </p:nvSpPr>
        <p:spPr>
          <a:xfrm>
            <a:off x="892064" y="1828800"/>
            <a:ext cx="1698736"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Location:</a:t>
            </a:r>
            <a:endParaRPr/>
          </a:p>
        </p:txBody>
      </p:sp>
      <p:sp>
        <p:nvSpPr>
          <p:cNvPr id="257" name="Google Shape;257;p17"/>
          <p:cNvSpPr txBox="1"/>
          <p:nvPr/>
        </p:nvSpPr>
        <p:spPr>
          <a:xfrm>
            <a:off x="-3352800" y="145831"/>
            <a:ext cx="4049110" cy="69865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For location -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Can list home address, Zipcode, or maybe GPS for city</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Password if not LinkedIn:</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Activation of service – local or wifi connected?  Might give option to not upload stats to server</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Vibrate when notification?</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Status: based on profiles edited</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0-25 profiles – begin bee</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26-50- honeybee</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50-100- bumble bee</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100-200 – carpenter bee</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201 –500- wasp</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501-700- hornet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701-999 yellow jacket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1000-1999 – killer bee</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2000+ - network bee</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Give some info about what it means to have that many connections – what %,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piechart of network based on high level industries:</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Your network is 20% tech, 40% business…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58" name="Google Shape;258;p17"/>
          <p:cNvSpPr txBox="1"/>
          <p:nvPr/>
        </p:nvSpPr>
        <p:spPr>
          <a:xfrm>
            <a:off x="884182" y="2451016"/>
            <a:ext cx="1698736" cy="286232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Password: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Deactivate: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Vibrate for notification: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Status: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59" name="Google Shape;259;p17"/>
          <p:cNvCxnSpPr/>
          <p:nvPr/>
        </p:nvCxnSpPr>
        <p:spPr>
          <a:xfrm flipH="1" rot="10800000">
            <a:off x="4668892" y="3733800"/>
            <a:ext cx="1451495" cy="1248488"/>
          </a:xfrm>
          <a:prstGeom prst="straightConnector1">
            <a:avLst/>
          </a:prstGeom>
          <a:noFill/>
          <a:ln cap="flat" cmpd="sng" w="9525">
            <a:solidFill>
              <a:srgbClr val="002060"/>
            </a:solidFill>
            <a:prstDash val="solid"/>
            <a:round/>
            <a:headEnd len="sm" w="sm" type="none"/>
            <a:tailEnd len="med" w="med" type="stealth"/>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18"/>
          <p:cNvPicPr preferRelativeResize="0"/>
          <p:nvPr>
            <p:ph idx="1" type="body"/>
          </p:nvPr>
        </p:nvPicPr>
        <p:blipFill rotWithShape="1">
          <a:blip r:embed="rId3">
            <a:alphaModFix/>
          </a:blip>
          <a:srcRect b="2058" l="35352" r="35727" t="2496"/>
          <a:stretch/>
        </p:blipFill>
        <p:spPr>
          <a:xfrm>
            <a:off x="3200400" y="110359"/>
            <a:ext cx="2590800" cy="6416565"/>
          </a:xfrm>
          <a:prstGeom prst="rect">
            <a:avLst/>
          </a:prstGeom>
          <a:noFill/>
          <a:ln>
            <a:noFill/>
          </a:ln>
        </p:spPr>
      </p:pic>
      <p:sp>
        <p:nvSpPr>
          <p:cNvPr id="265" name="Google Shape;265;p18"/>
          <p:cNvSpPr/>
          <p:nvPr/>
        </p:nvSpPr>
        <p:spPr>
          <a:xfrm>
            <a:off x="3352800" y="1295400"/>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18"/>
          <p:cNvSpPr/>
          <p:nvPr/>
        </p:nvSpPr>
        <p:spPr>
          <a:xfrm>
            <a:off x="3352800" y="1295400"/>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18"/>
          <p:cNvSpPr txBox="1"/>
          <p:nvPr/>
        </p:nvSpPr>
        <p:spPr>
          <a:xfrm>
            <a:off x="3352800" y="1295400"/>
            <a:ext cx="114431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Developer</a:t>
            </a:r>
            <a:endParaRPr sz="1800">
              <a:solidFill>
                <a:schemeClr val="dk1"/>
              </a:solidFill>
              <a:latin typeface="Calibri"/>
              <a:ea typeface="Calibri"/>
              <a:cs typeface="Calibri"/>
              <a:sym typeface="Calibri"/>
            </a:endParaRPr>
          </a:p>
        </p:txBody>
      </p:sp>
      <p:sp>
        <p:nvSpPr>
          <p:cNvPr id="268" name="Google Shape;268;p18"/>
          <p:cNvSpPr txBox="1"/>
          <p:nvPr/>
        </p:nvSpPr>
        <p:spPr>
          <a:xfrm>
            <a:off x="4495800" y="1353979"/>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ABC</a:t>
            </a:r>
            <a:endParaRPr sz="1000">
              <a:solidFill>
                <a:schemeClr val="dk1"/>
              </a:solidFill>
              <a:latin typeface="Calibri"/>
              <a:ea typeface="Calibri"/>
              <a:cs typeface="Calibri"/>
              <a:sym typeface="Calibri"/>
            </a:endParaRPr>
          </a:p>
        </p:txBody>
      </p:sp>
      <p:sp>
        <p:nvSpPr>
          <p:cNvPr id="269" name="Google Shape;269;p18"/>
          <p:cNvSpPr txBox="1"/>
          <p:nvPr/>
        </p:nvSpPr>
        <p:spPr>
          <a:xfrm>
            <a:off x="4800600" y="1353979"/>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You</a:t>
            </a:r>
            <a:endParaRPr sz="1000">
              <a:solidFill>
                <a:schemeClr val="dk1"/>
              </a:solidFill>
              <a:latin typeface="Calibri"/>
              <a:ea typeface="Calibri"/>
              <a:cs typeface="Calibri"/>
              <a:sym typeface="Calibri"/>
            </a:endParaRPr>
          </a:p>
        </p:txBody>
      </p:sp>
      <p:sp>
        <p:nvSpPr>
          <p:cNvPr id="270" name="Google Shape;270;p18"/>
          <p:cNvSpPr txBox="1"/>
          <p:nvPr/>
        </p:nvSpPr>
        <p:spPr>
          <a:xfrm>
            <a:off x="5029200" y="1371600"/>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NET</a:t>
            </a:r>
            <a:endParaRPr sz="1000">
              <a:solidFill>
                <a:schemeClr val="dk1"/>
              </a:solidFill>
              <a:latin typeface="Calibri"/>
              <a:ea typeface="Calibri"/>
              <a:cs typeface="Calibri"/>
              <a:sym typeface="Calibri"/>
            </a:endParaRPr>
          </a:p>
        </p:txBody>
      </p:sp>
      <p:cxnSp>
        <p:nvCxnSpPr>
          <p:cNvPr id="271" name="Google Shape;271;p18"/>
          <p:cNvCxnSpPr/>
          <p:nvPr/>
        </p:nvCxnSpPr>
        <p:spPr>
          <a:xfrm>
            <a:off x="4495800" y="1295400"/>
            <a:ext cx="0" cy="457200"/>
          </a:xfrm>
          <a:prstGeom prst="straightConnector1">
            <a:avLst/>
          </a:prstGeom>
          <a:noFill/>
          <a:ln cap="flat" cmpd="sng" w="9525">
            <a:solidFill>
              <a:schemeClr val="dk1"/>
            </a:solidFill>
            <a:prstDash val="solid"/>
            <a:round/>
            <a:headEnd len="sm" w="sm" type="none"/>
            <a:tailEnd len="sm" w="sm" type="none"/>
          </a:ln>
        </p:spPr>
      </p:cxnSp>
      <p:cxnSp>
        <p:nvCxnSpPr>
          <p:cNvPr id="272" name="Google Shape;272;p18"/>
          <p:cNvCxnSpPr/>
          <p:nvPr/>
        </p:nvCxnSpPr>
        <p:spPr>
          <a:xfrm>
            <a:off x="4800600" y="1295400"/>
            <a:ext cx="0" cy="457200"/>
          </a:xfrm>
          <a:prstGeom prst="straightConnector1">
            <a:avLst/>
          </a:prstGeom>
          <a:noFill/>
          <a:ln cap="flat" cmpd="sng" w="9525">
            <a:solidFill>
              <a:schemeClr val="dk1"/>
            </a:solidFill>
            <a:prstDash val="solid"/>
            <a:round/>
            <a:headEnd len="sm" w="sm" type="none"/>
            <a:tailEnd len="sm" w="sm" type="none"/>
          </a:ln>
        </p:spPr>
      </p:cxnSp>
      <p:cxnSp>
        <p:nvCxnSpPr>
          <p:cNvPr id="273" name="Google Shape;273;p18"/>
          <p:cNvCxnSpPr/>
          <p:nvPr/>
        </p:nvCxnSpPr>
        <p:spPr>
          <a:xfrm>
            <a:off x="5105400" y="1295400"/>
            <a:ext cx="0" cy="457200"/>
          </a:xfrm>
          <a:prstGeom prst="straightConnector1">
            <a:avLst/>
          </a:prstGeom>
          <a:noFill/>
          <a:ln cap="flat" cmpd="sng" w="9525">
            <a:solidFill>
              <a:schemeClr val="dk1"/>
            </a:solidFill>
            <a:prstDash val="solid"/>
            <a:round/>
            <a:headEnd len="sm" w="sm" type="none"/>
            <a:tailEnd len="sm" w="sm" type="none"/>
          </a:ln>
        </p:spPr>
      </p:cxnSp>
      <p:sp>
        <p:nvSpPr>
          <p:cNvPr id="274" name="Google Shape;274;p18"/>
          <p:cNvSpPr txBox="1"/>
          <p:nvPr/>
        </p:nvSpPr>
        <p:spPr>
          <a:xfrm>
            <a:off x="3352800" y="1676400"/>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Dom Parise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275" name="Google Shape;275;p18"/>
          <p:cNvSpPr txBox="1"/>
          <p:nvPr/>
        </p:nvSpPr>
        <p:spPr>
          <a:xfrm>
            <a:off x="3352800" y="2667000"/>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Chris O’Neil</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276" name="Google Shape;276;p18"/>
          <p:cNvSpPr txBox="1"/>
          <p:nvPr/>
        </p:nvSpPr>
        <p:spPr>
          <a:xfrm>
            <a:off x="3350172" y="3676471"/>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Tom Erdmann</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cxnSp>
        <p:nvCxnSpPr>
          <p:cNvPr id="277" name="Google Shape;277;p18"/>
          <p:cNvCxnSpPr/>
          <p:nvPr/>
        </p:nvCxnSpPr>
        <p:spPr>
          <a:xfrm>
            <a:off x="3352800" y="2743200"/>
            <a:ext cx="2283372" cy="0"/>
          </a:xfrm>
          <a:prstGeom prst="straightConnector1">
            <a:avLst/>
          </a:prstGeom>
          <a:noFill/>
          <a:ln cap="flat" cmpd="sng" w="9525">
            <a:solidFill>
              <a:schemeClr val="dk1"/>
            </a:solidFill>
            <a:prstDash val="solid"/>
            <a:round/>
            <a:headEnd len="sm" w="sm" type="none"/>
            <a:tailEnd len="sm" w="sm" type="none"/>
          </a:ln>
        </p:spPr>
      </p:cxnSp>
      <p:cxnSp>
        <p:nvCxnSpPr>
          <p:cNvPr id="278" name="Google Shape;278;p18"/>
          <p:cNvCxnSpPr/>
          <p:nvPr/>
        </p:nvCxnSpPr>
        <p:spPr>
          <a:xfrm>
            <a:off x="3355428" y="3733800"/>
            <a:ext cx="2283372" cy="0"/>
          </a:xfrm>
          <a:prstGeom prst="straightConnector1">
            <a:avLst/>
          </a:prstGeom>
          <a:noFill/>
          <a:ln cap="flat" cmpd="sng" w="9525">
            <a:solidFill>
              <a:schemeClr val="dk1"/>
            </a:solidFill>
            <a:prstDash val="solid"/>
            <a:round/>
            <a:headEnd len="sm" w="sm" type="none"/>
            <a:tailEnd len="sm" w="sm" type="none"/>
          </a:ln>
        </p:spPr>
      </p:cxnSp>
      <p:cxnSp>
        <p:nvCxnSpPr>
          <p:cNvPr id="279" name="Google Shape;279;p18"/>
          <p:cNvCxnSpPr/>
          <p:nvPr/>
        </p:nvCxnSpPr>
        <p:spPr>
          <a:xfrm>
            <a:off x="3339662" y="4800600"/>
            <a:ext cx="2283372" cy="0"/>
          </a:xfrm>
          <a:prstGeom prst="straightConnector1">
            <a:avLst/>
          </a:prstGeom>
          <a:noFill/>
          <a:ln cap="flat" cmpd="sng" w="9525">
            <a:solidFill>
              <a:schemeClr val="dk1"/>
            </a:solidFill>
            <a:prstDash val="solid"/>
            <a:round/>
            <a:headEnd len="sm" w="sm" type="none"/>
            <a:tailEnd len="sm" w="sm" type="none"/>
          </a:ln>
        </p:spPr>
      </p:cxnSp>
      <p:sp>
        <p:nvSpPr>
          <p:cNvPr id="280" name="Google Shape;280;p18"/>
          <p:cNvSpPr txBox="1"/>
          <p:nvPr/>
        </p:nvSpPr>
        <p:spPr>
          <a:xfrm>
            <a:off x="3355428" y="4859179"/>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Contacts</a:t>
            </a:r>
            <a:endParaRPr sz="1000">
              <a:solidFill>
                <a:schemeClr val="dk1"/>
              </a:solidFill>
              <a:latin typeface="Calibri"/>
              <a:ea typeface="Calibri"/>
              <a:cs typeface="Calibri"/>
              <a:sym typeface="Calibri"/>
            </a:endParaRPr>
          </a:p>
        </p:txBody>
      </p:sp>
      <p:sp>
        <p:nvSpPr>
          <p:cNvPr id="281" name="Google Shape;281;p18"/>
          <p:cNvSpPr txBox="1"/>
          <p:nvPr/>
        </p:nvSpPr>
        <p:spPr>
          <a:xfrm>
            <a:off x="4117141" y="4859179"/>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Profile</a:t>
            </a:r>
            <a:endParaRPr sz="1000">
              <a:solidFill>
                <a:schemeClr val="dk1"/>
              </a:solidFill>
              <a:latin typeface="Calibri"/>
              <a:ea typeface="Calibri"/>
              <a:cs typeface="Calibri"/>
              <a:sym typeface="Calibri"/>
            </a:endParaRPr>
          </a:p>
        </p:txBody>
      </p:sp>
      <p:sp>
        <p:nvSpPr>
          <p:cNvPr id="282" name="Google Shape;282;p18"/>
          <p:cNvSpPr txBox="1"/>
          <p:nvPr/>
        </p:nvSpPr>
        <p:spPr>
          <a:xfrm>
            <a:off x="4825562" y="4859178"/>
            <a:ext cx="759946"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Bee’s Chest</a:t>
            </a:r>
            <a:endParaRPr sz="1000">
              <a:solidFill>
                <a:schemeClr val="dk1"/>
              </a:solidFill>
              <a:latin typeface="Calibri"/>
              <a:ea typeface="Calibri"/>
              <a:cs typeface="Calibri"/>
              <a:sym typeface="Calibri"/>
            </a:endParaRPr>
          </a:p>
        </p:txBody>
      </p:sp>
      <p:pic>
        <p:nvPicPr>
          <p:cNvPr id="283" name="Google Shape;283;p18"/>
          <p:cNvPicPr preferRelativeResize="0"/>
          <p:nvPr/>
        </p:nvPicPr>
        <p:blipFill rotWithShape="1">
          <a:blip r:embed="rId4">
            <a:alphaModFix/>
          </a:blip>
          <a:srcRect b="0" l="0" r="0" t="0"/>
          <a:stretch/>
        </p:blipFill>
        <p:spPr>
          <a:xfrm>
            <a:off x="3445507" y="3928093"/>
            <a:ext cx="593093" cy="668719"/>
          </a:xfrm>
          <a:prstGeom prst="rect">
            <a:avLst/>
          </a:prstGeom>
          <a:noFill/>
          <a:ln>
            <a:noFill/>
          </a:ln>
        </p:spPr>
      </p:pic>
      <p:pic>
        <p:nvPicPr>
          <p:cNvPr id="284" name="Google Shape;284;p18"/>
          <p:cNvPicPr preferRelativeResize="0"/>
          <p:nvPr/>
        </p:nvPicPr>
        <p:blipFill rotWithShape="1">
          <a:blip r:embed="rId5">
            <a:alphaModFix/>
          </a:blip>
          <a:srcRect b="0" l="0" r="0" t="0"/>
          <a:stretch/>
        </p:blipFill>
        <p:spPr>
          <a:xfrm>
            <a:off x="5372101" y="1261296"/>
            <a:ext cx="250934" cy="468970"/>
          </a:xfrm>
          <a:prstGeom prst="rect">
            <a:avLst/>
          </a:prstGeom>
          <a:noFill/>
          <a:ln>
            <a:noFill/>
          </a:ln>
        </p:spPr>
      </p:pic>
      <p:cxnSp>
        <p:nvCxnSpPr>
          <p:cNvPr id="285" name="Google Shape;285;p18"/>
          <p:cNvCxnSpPr/>
          <p:nvPr/>
        </p:nvCxnSpPr>
        <p:spPr>
          <a:xfrm>
            <a:off x="4038600" y="4806240"/>
            <a:ext cx="0" cy="457200"/>
          </a:xfrm>
          <a:prstGeom prst="straightConnector1">
            <a:avLst/>
          </a:prstGeom>
          <a:noFill/>
          <a:ln cap="flat" cmpd="sng" w="9525">
            <a:solidFill>
              <a:schemeClr val="dk1"/>
            </a:solidFill>
            <a:prstDash val="solid"/>
            <a:round/>
            <a:headEnd len="sm" w="sm" type="none"/>
            <a:tailEnd len="sm" w="sm" type="none"/>
          </a:ln>
        </p:spPr>
      </p:cxnSp>
      <p:cxnSp>
        <p:nvCxnSpPr>
          <p:cNvPr id="286" name="Google Shape;286;p18"/>
          <p:cNvCxnSpPr/>
          <p:nvPr/>
        </p:nvCxnSpPr>
        <p:spPr>
          <a:xfrm>
            <a:off x="4791403" y="4806625"/>
            <a:ext cx="0" cy="457200"/>
          </a:xfrm>
          <a:prstGeom prst="straightConnector1">
            <a:avLst/>
          </a:prstGeom>
          <a:noFill/>
          <a:ln cap="flat" cmpd="sng" w="9525">
            <a:solidFill>
              <a:schemeClr val="dk1"/>
            </a:solidFill>
            <a:prstDash val="solid"/>
            <a:round/>
            <a:headEnd len="sm" w="sm" type="none"/>
            <a:tailEnd len="sm" w="sm" type="none"/>
          </a:ln>
        </p:spPr>
      </p:cxnSp>
      <p:pic>
        <p:nvPicPr>
          <p:cNvPr id="287" name="Google Shape;287;p18"/>
          <p:cNvPicPr preferRelativeResize="0"/>
          <p:nvPr/>
        </p:nvPicPr>
        <p:blipFill rotWithShape="1">
          <a:blip r:embed="rId3">
            <a:alphaModFix/>
          </a:blip>
          <a:srcRect b="2058" l="35352" r="35727" t="2496"/>
          <a:stretch/>
        </p:blipFill>
        <p:spPr>
          <a:xfrm>
            <a:off x="609600" y="106417"/>
            <a:ext cx="2590800" cy="6416565"/>
          </a:xfrm>
          <a:prstGeom prst="rect">
            <a:avLst/>
          </a:prstGeom>
          <a:noFill/>
          <a:ln>
            <a:noFill/>
          </a:ln>
        </p:spPr>
      </p:pic>
      <p:sp>
        <p:nvSpPr>
          <p:cNvPr id="288" name="Google Shape;288;p18"/>
          <p:cNvSpPr/>
          <p:nvPr/>
        </p:nvSpPr>
        <p:spPr>
          <a:xfrm>
            <a:off x="762000" y="1291458"/>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 name="Google Shape;289;p18"/>
          <p:cNvSpPr/>
          <p:nvPr/>
        </p:nvSpPr>
        <p:spPr>
          <a:xfrm>
            <a:off x="762000" y="1291458"/>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p18"/>
          <p:cNvSpPr txBox="1"/>
          <p:nvPr/>
        </p:nvSpPr>
        <p:spPr>
          <a:xfrm>
            <a:off x="762000" y="1291458"/>
            <a:ext cx="1128548"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Cepeda</a:t>
            </a:r>
            <a:endParaRPr sz="1800">
              <a:solidFill>
                <a:schemeClr val="dk1"/>
              </a:solidFill>
              <a:latin typeface="Calibri"/>
              <a:ea typeface="Calibri"/>
              <a:cs typeface="Calibri"/>
              <a:sym typeface="Calibri"/>
            </a:endParaRPr>
          </a:p>
        </p:txBody>
      </p:sp>
      <p:sp>
        <p:nvSpPr>
          <p:cNvPr id="291" name="Google Shape;291;p18"/>
          <p:cNvSpPr txBox="1"/>
          <p:nvPr/>
        </p:nvSpPr>
        <p:spPr>
          <a:xfrm>
            <a:off x="1905000" y="1350037"/>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ABC</a:t>
            </a:r>
            <a:endParaRPr sz="1000">
              <a:solidFill>
                <a:schemeClr val="dk1"/>
              </a:solidFill>
              <a:latin typeface="Calibri"/>
              <a:ea typeface="Calibri"/>
              <a:cs typeface="Calibri"/>
              <a:sym typeface="Calibri"/>
            </a:endParaRPr>
          </a:p>
        </p:txBody>
      </p:sp>
      <p:sp>
        <p:nvSpPr>
          <p:cNvPr id="292" name="Google Shape;292;p18"/>
          <p:cNvSpPr txBox="1"/>
          <p:nvPr/>
        </p:nvSpPr>
        <p:spPr>
          <a:xfrm>
            <a:off x="2209800" y="1350037"/>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You</a:t>
            </a:r>
            <a:endParaRPr sz="1000">
              <a:solidFill>
                <a:schemeClr val="dk1"/>
              </a:solidFill>
              <a:latin typeface="Calibri"/>
              <a:ea typeface="Calibri"/>
              <a:cs typeface="Calibri"/>
              <a:sym typeface="Calibri"/>
            </a:endParaRPr>
          </a:p>
        </p:txBody>
      </p:sp>
      <p:sp>
        <p:nvSpPr>
          <p:cNvPr id="293" name="Google Shape;293;p18"/>
          <p:cNvSpPr txBox="1"/>
          <p:nvPr/>
        </p:nvSpPr>
        <p:spPr>
          <a:xfrm>
            <a:off x="2438400" y="1367658"/>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NET</a:t>
            </a:r>
            <a:endParaRPr sz="1000">
              <a:solidFill>
                <a:schemeClr val="dk1"/>
              </a:solidFill>
              <a:latin typeface="Calibri"/>
              <a:ea typeface="Calibri"/>
              <a:cs typeface="Calibri"/>
              <a:sym typeface="Calibri"/>
            </a:endParaRPr>
          </a:p>
        </p:txBody>
      </p:sp>
      <p:cxnSp>
        <p:nvCxnSpPr>
          <p:cNvPr id="294" name="Google Shape;294;p18"/>
          <p:cNvCxnSpPr/>
          <p:nvPr/>
        </p:nvCxnSpPr>
        <p:spPr>
          <a:xfrm>
            <a:off x="1905000" y="1291458"/>
            <a:ext cx="0" cy="457200"/>
          </a:xfrm>
          <a:prstGeom prst="straightConnector1">
            <a:avLst/>
          </a:prstGeom>
          <a:noFill/>
          <a:ln cap="flat" cmpd="sng" w="9525">
            <a:solidFill>
              <a:schemeClr val="dk1"/>
            </a:solidFill>
            <a:prstDash val="solid"/>
            <a:round/>
            <a:headEnd len="sm" w="sm" type="none"/>
            <a:tailEnd len="sm" w="sm" type="none"/>
          </a:ln>
        </p:spPr>
      </p:cxnSp>
      <p:cxnSp>
        <p:nvCxnSpPr>
          <p:cNvPr id="295" name="Google Shape;295;p18"/>
          <p:cNvCxnSpPr/>
          <p:nvPr/>
        </p:nvCxnSpPr>
        <p:spPr>
          <a:xfrm>
            <a:off x="2209800" y="1291458"/>
            <a:ext cx="0" cy="457200"/>
          </a:xfrm>
          <a:prstGeom prst="straightConnector1">
            <a:avLst/>
          </a:prstGeom>
          <a:noFill/>
          <a:ln cap="flat" cmpd="sng" w="9525">
            <a:solidFill>
              <a:schemeClr val="dk1"/>
            </a:solidFill>
            <a:prstDash val="solid"/>
            <a:round/>
            <a:headEnd len="sm" w="sm" type="none"/>
            <a:tailEnd len="sm" w="sm" type="none"/>
          </a:ln>
        </p:spPr>
      </p:cxnSp>
      <p:cxnSp>
        <p:nvCxnSpPr>
          <p:cNvPr id="296" name="Google Shape;296;p18"/>
          <p:cNvCxnSpPr/>
          <p:nvPr/>
        </p:nvCxnSpPr>
        <p:spPr>
          <a:xfrm>
            <a:off x="2514600" y="1291458"/>
            <a:ext cx="0" cy="457200"/>
          </a:xfrm>
          <a:prstGeom prst="straightConnector1">
            <a:avLst/>
          </a:prstGeom>
          <a:noFill/>
          <a:ln cap="flat" cmpd="sng" w="9525">
            <a:solidFill>
              <a:schemeClr val="dk1"/>
            </a:solidFill>
            <a:prstDash val="solid"/>
            <a:round/>
            <a:headEnd len="sm" w="sm" type="none"/>
            <a:tailEnd len="sm" w="sm" type="none"/>
          </a:ln>
        </p:spPr>
      </p:cxnSp>
      <p:sp>
        <p:nvSpPr>
          <p:cNvPr id="297" name="Google Shape;297;p18"/>
          <p:cNvSpPr txBox="1"/>
          <p:nvPr/>
        </p:nvSpPr>
        <p:spPr>
          <a:xfrm>
            <a:off x="762000" y="1755338"/>
            <a:ext cx="2286000" cy="129266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Camilo Cepeda</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pic>
        <p:nvPicPr>
          <p:cNvPr id="298" name="Google Shape;298;p18"/>
          <p:cNvPicPr preferRelativeResize="0"/>
          <p:nvPr/>
        </p:nvPicPr>
        <p:blipFill rotWithShape="1">
          <a:blip r:embed="rId6">
            <a:alphaModFix/>
          </a:blip>
          <a:srcRect b="0" l="0" r="0" t="0"/>
          <a:stretch/>
        </p:blipFill>
        <p:spPr>
          <a:xfrm>
            <a:off x="900687" y="2912681"/>
            <a:ext cx="623887" cy="623887"/>
          </a:xfrm>
          <a:prstGeom prst="rect">
            <a:avLst/>
          </a:prstGeom>
          <a:noFill/>
          <a:ln>
            <a:noFill/>
          </a:ln>
        </p:spPr>
      </p:pic>
      <p:sp>
        <p:nvSpPr>
          <p:cNvPr id="299" name="Google Shape;299;p18"/>
          <p:cNvSpPr txBox="1"/>
          <p:nvPr/>
        </p:nvSpPr>
        <p:spPr>
          <a:xfrm>
            <a:off x="762000" y="2663058"/>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Diego Cepeda</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300" name="Google Shape;300;p18"/>
          <p:cNvSpPr txBox="1"/>
          <p:nvPr/>
        </p:nvSpPr>
        <p:spPr>
          <a:xfrm>
            <a:off x="759372" y="3672529"/>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Javier Cepeda</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cxnSp>
        <p:nvCxnSpPr>
          <p:cNvPr id="301" name="Google Shape;301;p18"/>
          <p:cNvCxnSpPr/>
          <p:nvPr/>
        </p:nvCxnSpPr>
        <p:spPr>
          <a:xfrm>
            <a:off x="762000" y="2739258"/>
            <a:ext cx="2283372" cy="0"/>
          </a:xfrm>
          <a:prstGeom prst="straightConnector1">
            <a:avLst/>
          </a:prstGeom>
          <a:noFill/>
          <a:ln cap="flat" cmpd="sng" w="9525">
            <a:solidFill>
              <a:schemeClr val="dk1"/>
            </a:solidFill>
            <a:prstDash val="solid"/>
            <a:round/>
            <a:headEnd len="sm" w="sm" type="none"/>
            <a:tailEnd len="sm" w="sm" type="none"/>
          </a:ln>
        </p:spPr>
      </p:cxnSp>
      <p:cxnSp>
        <p:nvCxnSpPr>
          <p:cNvPr id="302" name="Google Shape;302;p18"/>
          <p:cNvCxnSpPr/>
          <p:nvPr/>
        </p:nvCxnSpPr>
        <p:spPr>
          <a:xfrm>
            <a:off x="764628" y="3729858"/>
            <a:ext cx="2283372" cy="0"/>
          </a:xfrm>
          <a:prstGeom prst="straightConnector1">
            <a:avLst/>
          </a:prstGeom>
          <a:noFill/>
          <a:ln cap="flat" cmpd="sng" w="9525">
            <a:solidFill>
              <a:schemeClr val="dk1"/>
            </a:solidFill>
            <a:prstDash val="solid"/>
            <a:round/>
            <a:headEnd len="sm" w="sm" type="none"/>
            <a:tailEnd len="sm" w="sm" type="none"/>
          </a:ln>
        </p:spPr>
      </p:cxnSp>
      <p:cxnSp>
        <p:nvCxnSpPr>
          <p:cNvPr id="303" name="Google Shape;303;p18"/>
          <p:cNvCxnSpPr/>
          <p:nvPr/>
        </p:nvCxnSpPr>
        <p:spPr>
          <a:xfrm>
            <a:off x="748862" y="4796658"/>
            <a:ext cx="2283372" cy="0"/>
          </a:xfrm>
          <a:prstGeom prst="straightConnector1">
            <a:avLst/>
          </a:prstGeom>
          <a:noFill/>
          <a:ln cap="flat" cmpd="sng" w="9525">
            <a:solidFill>
              <a:schemeClr val="dk1"/>
            </a:solidFill>
            <a:prstDash val="solid"/>
            <a:round/>
            <a:headEnd len="sm" w="sm" type="none"/>
            <a:tailEnd len="sm" w="sm" type="none"/>
          </a:ln>
        </p:spPr>
      </p:cxnSp>
      <p:sp>
        <p:nvSpPr>
          <p:cNvPr id="304" name="Google Shape;304;p18"/>
          <p:cNvSpPr txBox="1"/>
          <p:nvPr/>
        </p:nvSpPr>
        <p:spPr>
          <a:xfrm>
            <a:off x="764628" y="4855237"/>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Contacts</a:t>
            </a:r>
            <a:endParaRPr sz="1000">
              <a:solidFill>
                <a:schemeClr val="dk1"/>
              </a:solidFill>
              <a:latin typeface="Calibri"/>
              <a:ea typeface="Calibri"/>
              <a:cs typeface="Calibri"/>
              <a:sym typeface="Calibri"/>
            </a:endParaRPr>
          </a:p>
        </p:txBody>
      </p:sp>
      <p:sp>
        <p:nvSpPr>
          <p:cNvPr id="305" name="Google Shape;305;p18"/>
          <p:cNvSpPr txBox="1"/>
          <p:nvPr/>
        </p:nvSpPr>
        <p:spPr>
          <a:xfrm>
            <a:off x="1526341" y="4855237"/>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Profile</a:t>
            </a:r>
            <a:endParaRPr sz="1000">
              <a:solidFill>
                <a:schemeClr val="dk1"/>
              </a:solidFill>
              <a:latin typeface="Calibri"/>
              <a:ea typeface="Calibri"/>
              <a:cs typeface="Calibri"/>
              <a:sym typeface="Calibri"/>
            </a:endParaRPr>
          </a:p>
        </p:txBody>
      </p:sp>
      <p:sp>
        <p:nvSpPr>
          <p:cNvPr id="306" name="Google Shape;306;p18"/>
          <p:cNvSpPr txBox="1"/>
          <p:nvPr/>
        </p:nvSpPr>
        <p:spPr>
          <a:xfrm>
            <a:off x="2234762" y="4855236"/>
            <a:ext cx="759946"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Bee’s Chest</a:t>
            </a:r>
            <a:endParaRPr sz="1000">
              <a:solidFill>
                <a:schemeClr val="dk1"/>
              </a:solidFill>
              <a:latin typeface="Calibri"/>
              <a:ea typeface="Calibri"/>
              <a:cs typeface="Calibri"/>
              <a:sym typeface="Calibri"/>
            </a:endParaRPr>
          </a:p>
        </p:txBody>
      </p:sp>
      <p:pic>
        <p:nvPicPr>
          <p:cNvPr id="307" name="Google Shape;307;p18"/>
          <p:cNvPicPr preferRelativeResize="0"/>
          <p:nvPr/>
        </p:nvPicPr>
        <p:blipFill rotWithShape="1">
          <a:blip r:embed="rId5">
            <a:alphaModFix/>
          </a:blip>
          <a:srcRect b="0" l="0" r="0" t="0"/>
          <a:stretch/>
        </p:blipFill>
        <p:spPr>
          <a:xfrm>
            <a:off x="2781301" y="1257354"/>
            <a:ext cx="250934" cy="468970"/>
          </a:xfrm>
          <a:prstGeom prst="rect">
            <a:avLst/>
          </a:prstGeom>
          <a:noFill/>
          <a:ln>
            <a:noFill/>
          </a:ln>
        </p:spPr>
      </p:pic>
      <p:cxnSp>
        <p:nvCxnSpPr>
          <p:cNvPr id="308" name="Google Shape;308;p18"/>
          <p:cNvCxnSpPr/>
          <p:nvPr/>
        </p:nvCxnSpPr>
        <p:spPr>
          <a:xfrm>
            <a:off x="1447800" y="4802298"/>
            <a:ext cx="0" cy="457200"/>
          </a:xfrm>
          <a:prstGeom prst="straightConnector1">
            <a:avLst/>
          </a:prstGeom>
          <a:noFill/>
          <a:ln cap="flat" cmpd="sng" w="9525">
            <a:solidFill>
              <a:schemeClr val="dk1"/>
            </a:solidFill>
            <a:prstDash val="solid"/>
            <a:round/>
            <a:headEnd len="sm" w="sm" type="none"/>
            <a:tailEnd len="sm" w="sm" type="none"/>
          </a:ln>
        </p:spPr>
      </p:cxnSp>
      <p:cxnSp>
        <p:nvCxnSpPr>
          <p:cNvPr id="309" name="Google Shape;309;p18"/>
          <p:cNvCxnSpPr/>
          <p:nvPr/>
        </p:nvCxnSpPr>
        <p:spPr>
          <a:xfrm>
            <a:off x="2200603" y="4802683"/>
            <a:ext cx="0" cy="457200"/>
          </a:xfrm>
          <a:prstGeom prst="straightConnector1">
            <a:avLst/>
          </a:prstGeom>
          <a:noFill/>
          <a:ln cap="flat" cmpd="sng" w="9525">
            <a:solidFill>
              <a:schemeClr val="dk1"/>
            </a:solidFill>
            <a:prstDash val="solid"/>
            <a:round/>
            <a:headEnd len="sm" w="sm" type="none"/>
            <a:tailEnd len="sm" w="sm" type="none"/>
          </a:ln>
        </p:spPr>
      </p:cxnSp>
      <p:pic>
        <p:nvPicPr>
          <p:cNvPr id="310" name="Google Shape;310;p18"/>
          <p:cNvPicPr preferRelativeResize="0"/>
          <p:nvPr/>
        </p:nvPicPr>
        <p:blipFill rotWithShape="1">
          <a:blip r:embed="rId3">
            <a:alphaModFix/>
          </a:blip>
          <a:srcRect b="2058" l="35352" r="35727" t="2496"/>
          <a:stretch/>
        </p:blipFill>
        <p:spPr>
          <a:xfrm>
            <a:off x="5791200" y="102475"/>
            <a:ext cx="2590800" cy="6416565"/>
          </a:xfrm>
          <a:prstGeom prst="rect">
            <a:avLst/>
          </a:prstGeom>
          <a:noFill/>
          <a:ln>
            <a:noFill/>
          </a:ln>
        </p:spPr>
      </p:pic>
      <p:sp>
        <p:nvSpPr>
          <p:cNvPr id="311" name="Google Shape;311;p18"/>
          <p:cNvSpPr/>
          <p:nvPr/>
        </p:nvSpPr>
        <p:spPr>
          <a:xfrm>
            <a:off x="5943600" y="1287516"/>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 name="Google Shape;312;p18"/>
          <p:cNvSpPr/>
          <p:nvPr/>
        </p:nvSpPr>
        <p:spPr>
          <a:xfrm>
            <a:off x="5943600" y="1287516"/>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18"/>
          <p:cNvSpPr txBox="1"/>
          <p:nvPr/>
        </p:nvSpPr>
        <p:spPr>
          <a:xfrm>
            <a:off x="5943600" y="1287516"/>
            <a:ext cx="114037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Developer</a:t>
            </a:r>
            <a:endParaRPr sz="1800">
              <a:solidFill>
                <a:schemeClr val="dk1"/>
              </a:solidFill>
              <a:latin typeface="Calibri"/>
              <a:ea typeface="Calibri"/>
              <a:cs typeface="Calibri"/>
              <a:sym typeface="Calibri"/>
            </a:endParaRPr>
          </a:p>
        </p:txBody>
      </p:sp>
      <p:sp>
        <p:nvSpPr>
          <p:cNvPr id="314" name="Google Shape;314;p18"/>
          <p:cNvSpPr txBox="1"/>
          <p:nvPr/>
        </p:nvSpPr>
        <p:spPr>
          <a:xfrm>
            <a:off x="7086600" y="1346095"/>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ABC</a:t>
            </a:r>
            <a:endParaRPr sz="1000">
              <a:solidFill>
                <a:schemeClr val="dk1"/>
              </a:solidFill>
              <a:latin typeface="Calibri"/>
              <a:ea typeface="Calibri"/>
              <a:cs typeface="Calibri"/>
              <a:sym typeface="Calibri"/>
            </a:endParaRPr>
          </a:p>
        </p:txBody>
      </p:sp>
      <p:sp>
        <p:nvSpPr>
          <p:cNvPr id="315" name="Google Shape;315;p18"/>
          <p:cNvSpPr txBox="1"/>
          <p:nvPr/>
        </p:nvSpPr>
        <p:spPr>
          <a:xfrm>
            <a:off x="7391400" y="1346095"/>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You</a:t>
            </a:r>
            <a:endParaRPr sz="1000">
              <a:solidFill>
                <a:schemeClr val="dk1"/>
              </a:solidFill>
              <a:latin typeface="Calibri"/>
              <a:ea typeface="Calibri"/>
              <a:cs typeface="Calibri"/>
              <a:sym typeface="Calibri"/>
            </a:endParaRPr>
          </a:p>
        </p:txBody>
      </p:sp>
      <p:sp>
        <p:nvSpPr>
          <p:cNvPr id="316" name="Google Shape;316;p18"/>
          <p:cNvSpPr txBox="1"/>
          <p:nvPr/>
        </p:nvSpPr>
        <p:spPr>
          <a:xfrm>
            <a:off x="7620000" y="1363716"/>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NET</a:t>
            </a:r>
            <a:endParaRPr sz="1000">
              <a:solidFill>
                <a:schemeClr val="dk1"/>
              </a:solidFill>
              <a:latin typeface="Calibri"/>
              <a:ea typeface="Calibri"/>
              <a:cs typeface="Calibri"/>
              <a:sym typeface="Calibri"/>
            </a:endParaRPr>
          </a:p>
        </p:txBody>
      </p:sp>
      <p:cxnSp>
        <p:nvCxnSpPr>
          <p:cNvPr id="317" name="Google Shape;317;p18"/>
          <p:cNvCxnSpPr/>
          <p:nvPr/>
        </p:nvCxnSpPr>
        <p:spPr>
          <a:xfrm>
            <a:off x="7086600" y="1287516"/>
            <a:ext cx="0" cy="457200"/>
          </a:xfrm>
          <a:prstGeom prst="straightConnector1">
            <a:avLst/>
          </a:prstGeom>
          <a:noFill/>
          <a:ln cap="flat" cmpd="sng" w="9525">
            <a:solidFill>
              <a:schemeClr val="dk1"/>
            </a:solidFill>
            <a:prstDash val="solid"/>
            <a:round/>
            <a:headEnd len="sm" w="sm" type="none"/>
            <a:tailEnd len="sm" w="sm" type="none"/>
          </a:ln>
        </p:spPr>
      </p:cxnSp>
      <p:cxnSp>
        <p:nvCxnSpPr>
          <p:cNvPr id="318" name="Google Shape;318;p18"/>
          <p:cNvCxnSpPr/>
          <p:nvPr/>
        </p:nvCxnSpPr>
        <p:spPr>
          <a:xfrm>
            <a:off x="7391400" y="1287516"/>
            <a:ext cx="0" cy="457200"/>
          </a:xfrm>
          <a:prstGeom prst="straightConnector1">
            <a:avLst/>
          </a:prstGeom>
          <a:noFill/>
          <a:ln cap="flat" cmpd="sng" w="9525">
            <a:solidFill>
              <a:schemeClr val="dk1"/>
            </a:solidFill>
            <a:prstDash val="solid"/>
            <a:round/>
            <a:headEnd len="sm" w="sm" type="none"/>
            <a:tailEnd len="sm" w="sm" type="none"/>
          </a:ln>
        </p:spPr>
      </p:cxnSp>
      <p:cxnSp>
        <p:nvCxnSpPr>
          <p:cNvPr id="319" name="Google Shape;319;p18"/>
          <p:cNvCxnSpPr/>
          <p:nvPr/>
        </p:nvCxnSpPr>
        <p:spPr>
          <a:xfrm>
            <a:off x="7696200" y="1287516"/>
            <a:ext cx="0" cy="457200"/>
          </a:xfrm>
          <a:prstGeom prst="straightConnector1">
            <a:avLst/>
          </a:prstGeom>
          <a:noFill/>
          <a:ln cap="flat" cmpd="sng" w="9525">
            <a:solidFill>
              <a:schemeClr val="dk1"/>
            </a:solidFill>
            <a:prstDash val="solid"/>
            <a:round/>
            <a:headEnd len="sm" w="sm" type="none"/>
            <a:tailEnd len="sm" w="sm" type="none"/>
          </a:ln>
        </p:spPr>
      </p:cxnSp>
      <p:sp>
        <p:nvSpPr>
          <p:cNvPr id="320" name="Google Shape;320;p18"/>
          <p:cNvSpPr txBox="1"/>
          <p:nvPr/>
        </p:nvSpPr>
        <p:spPr>
          <a:xfrm>
            <a:off x="5943600" y="1668516"/>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Chris O’Neil</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321" name="Google Shape;321;p18"/>
          <p:cNvSpPr txBox="1"/>
          <p:nvPr/>
        </p:nvSpPr>
        <p:spPr>
          <a:xfrm>
            <a:off x="5943600" y="2659116"/>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Billy Irwin</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322" name="Google Shape;322;p18"/>
          <p:cNvSpPr txBox="1"/>
          <p:nvPr/>
        </p:nvSpPr>
        <p:spPr>
          <a:xfrm>
            <a:off x="5940972" y="3668587"/>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Tom Erdmann</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cxnSp>
        <p:nvCxnSpPr>
          <p:cNvPr id="323" name="Google Shape;323;p18"/>
          <p:cNvCxnSpPr/>
          <p:nvPr/>
        </p:nvCxnSpPr>
        <p:spPr>
          <a:xfrm>
            <a:off x="5943600" y="2735316"/>
            <a:ext cx="2283372" cy="0"/>
          </a:xfrm>
          <a:prstGeom prst="straightConnector1">
            <a:avLst/>
          </a:prstGeom>
          <a:noFill/>
          <a:ln cap="flat" cmpd="sng" w="9525">
            <a:solidFill>
              <a:schemeClr val="dk1"/>
            </a:solidFill>
            <a:prstDash val="solid"/>
            <a:round/>
            <a:headEnd len="sm" w="sm" type="none"/>
            <a:tailEnd len="sm" w="sm" type="none"/>
          </a:ln>
        </p:spPr>
      </p:cxnSp>
      <p:cxnSp>
        <p:nvCxnSpPr>
          <p:cNvPr id="324" name="Google Shape;324;p18"/>
          <p:cNvCxnSpPr/>
          <p:nvPr/>
        </p:nvCxnSpPr>
        <p:spPr>
          <a:xfrm>
            <a:off x="5946228" y="3725916"/>
            <a:ext cx="2283372" cy="0"/>
          </a:xfrm>
          <a:prstGeom prst="straightConnector1">
            <a:avLst/>
          </a:prstGeom>
          <a:noFill/>
          <a:ln cap="flat" cmpd="sng" w="9525">
            <a:solidFill>
              <a:schemeClr val="dk1"/>
            </a:solidFill>
            <a:prstDash val="solid"/>
            <a:round/>
            <a:headEnd len="sm" w="sm" type="none"/>
            <a:tailEnd len="sm" w="sm" type="none"/>
          </a:ln>
        </p:spPr>
      </p:cxnSp>
      <p:cxnSp>
        <p:nvCxnSpPr>
          <p:cNvPr id="325" name="Google Shape;325;p18"/>
          <p:cNvCxnSpPr/>
          <p:nvPr/>
        </p:nvCxnSpPr>
        <p:spPr>
          <a:xfrm>
            <a:off x="5930462" y="4792716"/>
            <a:ext cx="2283372" cy="0"/>
          </a:xfrm>
          <a:prstGeom prst="straightConnector1">
            <a:avLst/>
          </a:prstGeom>
          <a:noFill/>
          <a:ln cap="flat" cmpd="sng" w="9525">
            <a:solidFill>
              <a:schemeClr val="dk1"/>
            </a:solidFill>
            <a:prstDash val="solid"/>
            <a:round/>
            <a:headEnd len="sm" w="sm" type="none"/>
            <a:tailEnd len="sm" w="sm" type="none"/>
          </a:ln>
        </p:spPr>
      </p:cxnSp>
      <p:sp>
        <p:nvSpPr>
          <p:cNvPr id="326" name="Google Shape;326;p18"/>
          <p:cNvSpPr txBox="1"/>
          <p:nvPr/>
        </p:nvSpPr>
        <p:spPr>
          <a:xfrm>
            <a:off x="5946228" y="4851295"/>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Contacts</a:t>
            </a:r>
            <a:endParaRPr sz="1000">
              <a:solidFill>
                <a:schemeClr val="dk1"/>
              </a:solidFill>
              <a:latin typeface="Calibri"/>
              <a:ea typeface="Calibri"/>
              <a:cs typeface="Calibri"/>
              <a:sym typeface="Calibri"/>
            </a:endParaRPr>
          </a:p>
        </p:txBody>
      </p:sp>
      <p:sp>
        <p:nvSpPr>
          <p:cNvPr id="327" name="Google Shape;327;p18"/>
          <p:cNvSpPr txBox="1"/>
          <p:nvPr/>
        </p:nvSpPr>
        <p:spPr>
          <a:xfrm>
            <a:off x="6707941" y="4851295"/>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Profile</a:t>
            </a:r>
            <a:endParaRPr sz="1000">
              <a:solidFill>
                <a:schemeClr val="dk1"/>
              </a:solidFill>
              <a:latin typeface="Calibri"/>
              <a:ea typeface="Calibri"/>
              <a:cs typeface="Calibri"/>
              <a:sym typeface="Calibri"/>
            </a:endParaRPr>
          </a:p>
        </p:txBody>
      </p:sp>
      <p:sp>
        <p:nvSpPr>
          <p:cNvPr id="328" name="Google Shape;328;p18"/>
          <p:cNvSpPr txBox="1"/>
          <p:nvPr/>
        </p:nvSpPr>
        <p:spPr>
          <a:xfrm>
            <a:off x="7416362" y="4851294"/>
            <a:ext cx="759946"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Bee’s Chest</a:t>
            </a:r>
            <a:endParaRPr sz="1000">
              <a:solidFill>
                <a:schemeClr val="dk1"/>
              </a:solidFill>
              <a:latin typeface="Calibri"/>
              <a:ea typeface="Calibri"/>
              <a:cs typeface="Calibri"/>
              <a:sym typeface="Calibri"/>
            </a:endParaRPr>
          </a:p>
        </p:txBody>
      </p:sp>
      <p:pic>
        <p:nvPicPr>
          <p:cNvPr id="329" name="Google Shape;329;p18"/>
          <p:cNvPicPr preferRelativeResize="0"/>
          <p:nvPr/>
        </p:nvPicPr>
        <p:blipFill rotWithShape="1">
          <a:blip r:embed="rId4">
            <a:alphaModFix/>
          </a:blip>
          <a:srcRect b="0" l="0" r="0" t="0"/>
          <a:stretch/>
        </p:blipFill>
        <p:spPr>
          <a:xfrm>
            <a:off x="6081260" y="3928093"/>
            <a:ext cx="593093" cy="668719"/>
          </a:xfrm>
          <a:prstGeom prst="rect">
            <a:avLst/>
          </a:prstGeom>
          <a:noFill/>
          <a:ln>
            <a:noFill/>
          </a:ln>
        </p:spPr>
      </p:pic>
      <p:pic>
        <p:nvPicPr>
          <p:cNvPr id="330" name="Google Shape;330;p18"/>
          <p:cNvPicPr preferRelativeResize="0"/>
          <p:nvPr/>
        </p:nvPicPr>
        <p:blipFill rotWithShape="1">
          <a:blip r:embed="rId5">
            <a:alphaModFix/>
          </a:blip>
          <a:srcRect b="0" l="0" r="0" t="0"/>
          <a:stretch/>
        </p:blipFill>
        <p:spPr>
          <a:xfrm>
            <a:off x="7962901" y="1253412"/>
            <a:ext cx="250934" cy="468970"/>
          </a:xfrm>
          <a:prstGeom prst="rect">
            <a:avLst/>
          </a:prstGeom>
          <a:noFill/>
          <a:ln>
            <a:noFill/>
          </a:ln>
        </p:spPr>
      </p:pic>
      <p:cxnSp>
        <p:nvCxnSpPr>
          <p:cNvPr id="331" name="Google Shape;331;p18"/>
          <p:cNvCxnSpPr/>
          <p:nvPr/>
        </p:nvCxnSpPr>
        <p:spPr>
          <a:xfrm>
            <a:off x="6629400" y="4798356"/>
            <a:ext cx="0" cy="457200"/>
          </a:xfrm>
          <a:prstGeom prst="straightConnector1">
            <a:avLst/>
          </a:prstGeom>
          <a:noFill/>
          <a:ln cap="flat" cmpd="sng" w="9525">
            <a:solidFill>
              <a:schemeClr val="dk1"/>
            </a:solidFill>
            <a:prstDash val="solid"/>
            <a:round/>
            <a:headEnd len="sm" w="sm" type="none"/>
            <a:tailEnd len="sm" w="sm" type="none"/>
          </a:ln>
        </p:spPr>
      </p:cxnSp>
      <p:sp>
        <p:nvSpPr>
          <p:cNvPr id="332" name="Google Shape;332;p18"/>
          <p:cNvSpPr/>
          <p:nvPr/>
        </p:nvSpPr>
        <p:spPr>
          <a:xfrm>
            <a:off x="1890548" y="1346095"/>
            <a:ext cx="344214" cy="376287"/>
          </a:xfrm>
          <a:prstGeom prst="roundRect">
            <a:avLst>
              <a:gd fmla="val 16667" name="adj"/>
            </a:avLst>
          </a:prstGeom>
          <a:solidFill>
            <a:schemeClr val="accent1">
              <a:alpha val="31764"/>
            </a:scheme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33" name="Google Shape;333;p18"/>
          <p:cNvCxnSpPr/>
          <p:nvPr/>
        </p:nvCxnSpPr>
        <p:spPr>
          <a:xfrm>
            <a:off x="7382203" y="4798741"/>
            <a:ext cx="0" cy="457200"/>
          </a:xfrm>
          <a:prstGeom prst="straightConnector1">
            <a:avLst/>
          </a:prstGeom>
          <a:noFill/>
          <a:ln cap="flat" cmpd="sng" w="9525">
            <a:solidFill>
              <a:schemeClr val="dk1"/>
            </a:solidFill>
            <a:prstDash val="solid"/>
            <a:round/>
            <a:headEnd len="sm" w="sm" type="none"/>
            <a:tailEnd len="sm" w="sm" type="none"/>
          </a:ln>
        </p:spPr>
      </p:cxnSp>
      <p:sp>
        <p:nvSpPr>
          <p:cNvPr id="334" name="Google Shape;334;p18"/>
          <p:cNvSpPr/>
          <p:nvPr/>
        </p:nvSpPr>
        <p:spPr>
          <a:xfrm>
            <a:off x="4791403" y="1335856"/>
            <a:ext cx="344214" cy="376287"/>
          </a:xfrm>
          <a:prstGeom prst="roundRect">
            <a:avLst>
              <a:gd fmla="val 16667" name="adj"/>
            </a:avLst>
          </a:prstGeom>
          <a:solidFill>
            <a:schemeClr val="accent1">
              <a:alpha val="31764"/>
            </a:scheme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5" name="Google Shape;335;p18"/>
          <p:cNvPicPr preferRelativeResize="0"/>
          <p:nvPr/>
        </p:nvPicPr>
        <p:blipFill rotWithShape="1">
          <a:blip r:embed="rId7">
            <a:alphaModFix/>
          </a:blip>
          <a:srcRect b="0" l="0" r="0" t="0"/>
          <a:stretch/>
        </p:blipFill>
        <p:spPr>
          <a:xfrm>
            <a:off x="949019" y="1944862"/>
            <a:ext cx="569738" cy="569738"/>
          </a:xfrm>
          <a:prstGeom prst="rect">
            <a:avLst/>
          </a:prstGeom>
          <a:noFill/>
          <a:ln>
            <a:noFill/>
          </a:ln>
        </p:spPr>
      </p:pic>
      <p:pic>
        <p:nvPicPr>
          <p:cNvPr id="336" name="Google Shape;336;p18"/>
          <p:cNvPicPr preferRelativeResize="0"/>
          <p:nvPr/>
        </p:nvPicPr>
        <p:blipFill rotWithShape="1">
          <a:blip r:embed="rId8">
            <a:alphaModFix/>
          </a:blip>
          <a:srcRect b="0" l="0" r="0" t="0"/>
          <a:stretch/>
        </p:blipFill>
        <p:spPr>
          <a:xfrm>
            <a:off x="918423" y="3962400"/>
            <a:ext cx="587115" cy="587115"/>
          </a:xfrm>
          <a:prstGeom prst="rect">
            <a:avLst/>
          </a:prstGeom>
          <a:noFill/>
          <a:ln>
            <a:noFill/>
          </a:ln>
        </p:spPr>
      </p:pic>
      <p:pic>
        <p:nvPicPr>
          <p:cNvPr id="337" name="Google Shape;337;p18"/>
          <p:cNvPicPr preferRelativeResize="0"/>
          <p:nvPr/>
        </p:nvPicPr>
        <p:blipFill rotWithShape="1">
          <a:blip r:embed="rId9">
            <a:alphaModFix/>
          </a:blip>
          <a:srcRect b="45487" l="-2897" r="51395" t="5210"/>
          <a:stretch/>
        </p:blipFill>
        <p:spPr>
          <a:xfrm>
            <a:off x="3448994" y="1866569"/>
            <a:ext cx="601062" cy="640147"/>
          </a:xfrm>
          <a:prstGeom prst="rect">
            <a:avLst/>
          </a:prstGeom>
          <a:noFill/>
          <a:ln>
            <a:noFill/>
          </a:ln>
        </p:spPr>
      </p:pic>
      <p:pic>
        <p:nvPicPr>
          <p:cNvPr id="338" name="Google Shape;338;p18"/>
          <p:cNvPicPr preferRelativeResize="0"/>
          <p:nvPr/>
        </p:nvPicPr>
        <p:blipFill rotWithShape="1">
          <a:blip r:embed="rId10">
            <a:alphaModFix/>
          </a:blip>
          <a:srcRect b="49446" l="41814" r="42282" t="34781"/>
          <a:stretch/>
        </p:blipFill>
        <p:spPr>
          <a:xfrm>
            <a:off x="3448994" y="2904797"/>
            <a:ext cx="612228" cy="607191"/>
          </a:xfrm>
          <a:prstGeom prst="rect">
            <a:avLst/>
          </a:prstGeom>
          <a:noFill/>
          <a:ln>
            <a:noFill/>
          </a:ln>
        </p:spPr>
      </p:pic>
      <p:pic>
        <p:nvPicPr>
          <p:cNvPr id="339" name="Google Shape;339;p18"/>
          <p:cNvPicPr preferRelativeResize="0"/>
          <p:nvPr/>
        </p:nvPicPr>
        <p:blipFill rotWithShape="1">
          <a:blip r:embed="rId10">
            <a:alphaModFix/>
          </a:blip>
          <a:srcRect b="49446" l="41814" r="42282" t="34781"/>
          <a:stretch/>
        </p:blipFill>
        <p:spPr>
          <a:xfrm>
            <a:off x="6062125" y="1926135"/>
            <a:ext cx="612228" cy="607191"/>
          </a:xfrm>
          <a:prstGeom prst="rect">
            <a:avLst/>
          </a:prstGeom>
          <a:noFill/>
          <a:ln>
            <a:noFill/>
          </a:ln>
        </p:spPr>
      </p:pic>
      <p:pic>
        <p:nvPicPr>
          <p:cNvPr id="340" name="Google Shape;340;p18"/>
          <p:cNvPicPr preferRelativeResize="0"/>
          <p:nvPr/>
        </p:nvPicPr>
        <p:blipFill rotWithShape="1">
          <a:blip r:embed="rId11">
            <a:alphaModFix/>
          </a:blip>
          <a:srcRect b="43073" l="63148" r="18426" t="33816"/>
          <a:stretch/>
        </p:blipFill>
        <p:spPr>
          <a:xfrm>
            <a:off x="6080687" y="2860254"/>
            <a:ext cx="548713" cy="687541"/>
          </a:xfrm>
          <a:prstGeom prst="rect">
            <a:avLst/>
          </a:prstGeom>
          <a:noFill/>
          <a:ln>
            <a:noFill/>
          </a:ln>
        </p:spPr>
      </p:pic>
      <p:sp>
        <p:nvSpPr>
          <p:cNvPr id="341" name="Google Shape;341;p18"/>
          <p:cNvSpPr/>
          <p:nvPr/>
        </p:nvSpPr>
        <p:spPr>
          <a:xfrm>
            <a:off x="7687003" y="1331914"/>
            <a:ext cx="344214" cy="376287"/>
          </a:xfrm>
          <a:prstGeom prst="roundRect">
            <a:avLst>
              <a:gd fmla="val 16667" name="adj"/>
            </a:avLst>
          </a:prstGeom>
          <a:solidFill>
            <a:schemeClr val="accent1">
              <a:alpha val="31764"/>
            </a:scheme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2" name="Google Shape;342;p18"/>
          <p:cNvSpPr txBox="1"/>
          <p:nvPr/>
        </p:nvSpPr>
        <p:spPr>
          <a:xfrm>
            <a:off x="-2362200" y="730582"/>
            <a:ext cx="2725834" cy="427809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The default of the phone app is to load all the names by alphabet as is now with the phone.</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If you hit </a:t>
            </a:r>
            <a:r>
              <a:rPr b="1" lang="en-US" sz="1600">
                <a:solidFill>
                  <a:schemeClr val="dk1"/>
                </a:solidFill>
                <a:latin typeface="Calibri"/>
                <a:ea typeface="Calibri"/>
                <a:cs typeface="Calibri"/>
                <a:sym typeface="Calibri"/>
              </a:rPr>
              <a:t>ABC</a:t>
            </a:r>
            <a:r>
              <a:rPr lang="en-US" sz="1600">
                <a:solidFill>
                  <a:schemeClr val="dk1"/>
                </a:solidFill>
                <a:latin typeface="Calibri"/>
                <a:ea typeface="Calibri"/>
                <a:cs typeface="Calibri"/>
                <a:sym typeface="Calibri"/>
              </a:rPr>
              <a:t> without search, it’ll load the list alphabetically based on who you are connected to on LinkedIn.</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If you type a search – it’ll load a list alphabetically phonebook + LinkedIn, but it will color the LinkedIn users that you are connected with.</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343" name="Google Shape;343;p18"/>
          <p:cNvSpPr/>
          <p:nvPr/>
        </p:nvSpPr>
        <p:spPr>
          <a:xfrm>
            <a:off x="748862" y="3733800"/>
            <a:ext cx="2283372" cy="981328"/>
          </a:xfrm>
          <a:prstGeom prst="roundRect">
            <a:avLst>
              <a:gd fmla="val 16667" name="adj"/>
            </a:avLst>
          </a:prstGeom>
          <a:solidFill>
            <a:srgbClr val="92D050">
              <a:alpha val="20784"/>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4" name="Google Shape;344;p18"/>
          <p:cNvSpPr/>
          <p:nvPr/>
        </p:nvSpPr>
        <p:spPr>
          <a:xfrm>
            <a:off x="759372" y="2769130"/>
            <a:ext cx="2283372" cy="918342"/>
          </a:xfrm>
          <a:prstGeom prst="roundRect">
            <a:avLst>
              <a:gd fmla="val 16667" name="adj"/>
            </a:avLst>
          </a:prstGeom>
          <a:solidFill>
            <a:srgbClr val="92D050">
              <a:alpha val="20784"/>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5" name="Google Shape;345;p18"/>
          <p:cNvSpPr/>
          <p:nvPr/>
        </p:nvSpPr>
        <p:spPr>
          <a:xfrm>
            <a:off x="3355428" y="2778453"/>
            <a:ext cx="2283372" cy="918342"/>
          </a:xfrm>
          <a:prstGeom prst="roundRect">
            <a:avLst>
              <a:gd fmla="val 16667" name="adj"/>
            </a:avLst>
          </a:prstGeom>
          <a:solidFill>
            <a:srgbClr val="92D050">
              <a:alpha val="20784"/>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18"/>
          <p:cNvSpPr/>
          <p:nvPr/>
        </p:nvSpPr>
        <p:spPr>
          <a:xfrm>
            <a:off x="3358342" y="3796786"/>
            <a:ext cx="2283372" cy="918342"/>
          </a:xfrm>
          <a:prstGeom prst="roundRect">
            <a:avLst>
              <a:gd fmla="val 16667" name="adj"/>
            </a:avLst>
          </a:prstGeom>
          <a:solidFill>
            <a:srgbClr val="92D050">
              <a:alpha val="20784"/>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p18"/>
          <p:cNvSpPr/>
          <p:nvPr/>
        </p:nvSpPr>
        <p:spPr>
          <a:xfrm>
            <a:off x="5971189" y="1770560"/>
            <a:ext cx="2283372" cy="918342"/>
          </a:xfrm>
          <a:prstGeom prst="roundRect">
            <a:avLst>
              <a:gd fmla="val 16667" name="adj"/>
            </a:avLst>
          </a:prstGeom>
          <a:solidFill>
            <a:srgbClr val="92D050">
              <a:alpha val="20784"/>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 name="Google Shape;348;p18"/>
          <p:cNvSpPr/>
          <p:nvPr/>
        </p:nvSpPr>
        <p:spPr>
          <a:xfrm>
            <a:off x="5993523" y="2730941"/>
            <a:ext cx="2283372" cy="965853"/>
          </a:xfrm>
          <a:prstGeom prst="roundRect">
            <a:avLst>
              <a:gd fmla="val 16667" name="adj"/>
            </a:avLst>
          </a:prstGeom>
          <a:solidFill>
            <a:srgbClr val="92D050">
              <a:alpha val="20784"/>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 name="Google Shape;349;p18"/>
          <p:cNvSpPr/>
          <p:nvPr/>
        </p:nvSpPr>
        <p:spPr>
          <a:xfrm>
            <a:off x="5959365" y="3733800"/>
            <a:ext cx="2283372" cy="993447"/>
          </a:xfrm>
          <a:prstGeom prst="roundRect">
            <a:avLst>
              <a:gd fmla="val 16667" name="adj"/>
            </a:avLst>
          </a:prstGeom>
          <a:solidFill>
            <a:srgbClr val="92D050">
              <a:alpha val="20784"/>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0" name="Google Shape;350;p18"/>
          <p:cNvSpPr txBox="1"/>
          <p:nvPr/>
        </p:nvSpPr>
        <p:spPr>
          <a:xfrm>
            <a:off x="8534400" y="383739"/>
            <a:ext cx="2725834" cy="427809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If you hit “</a:t>
            </a:r>
            <a:r>
              <a:rPr b="1" lang="en-US" sz="1600">
                <a:solidFill>
                  <a:schemeClr val="dk1"/>
                </a:solidFill>
                <a:latin typeface="Calibri"/>
                <a:ea typeface="Calibri"/>
                <a:cs typeface="Calibri"/>
                <a:sym typeface="Calibri"/>
              </a:rPr>
              <a:t>YOU</a:t>
            </a:r>
            <a:r>
              <a:rPr lang="en-US" sz="1600">
                <a:solidFill>
                  <a:schemeClr val="dk1"/>
                </a:solidFill>
                <a:latin typeface="Calibri"/>
                <a:ea typeface="Calibri"/>
                <a:cs typeface="Calibri"/>
                <a:sym typeface="Calibri"/>
              </a:rPr>
              <a:t>” search mode, the candidates will be in order of who you tagged and rated.  If no rating, then the order will be generated by most tags done by you followed by most recent phone call.</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If no tags, then it’ll default to LinkedIn tags that you haven’t confirmed. And then rank by most tags followed by most recent phone call.</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LinkedIn users that you are connected with will be colored.</a:t>
            </a:r>
            <a:endParaRPr sz="1600">
              <a:solidFill>
                <a:schemeClr val="dk1"/>
              </a:solidFill>
              <a:latin typeface="Calibri"/>
              <a:ea typeface="Calibri"/>
              <a:cs typeface="Calibri"/>
              <a:sym typeface="Calibri"/>
            </a:endParaRPr>
          </a:p>
        </p:txBody>
      </p:sp>
      <p:sp>
        <p:nvSpPr>
          <p:cNvPr id="351" name="Google Shape;351;p18"/>
          <p:cNvSpPr txBox="1"/>
          <p:nvPr/>
        </p:nvSpPr>
        <p:spPr>
          <a:xfrm>
            <a:off x="11260234" y="357686"/>
            <a:ext cx="2725834" cy="35394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If you hit “</a:t>
            </a:r>
            <a:r>
              <a:rPr b="1" lang="en-US" sz="1600">
                <a:solidFill>
                  <a:schemeClr val="dk1"/>
                </a:solidFill>
                <a:latin typeface="Calibri"/>
                <a:ea typeface="Calibri"/>
                <a:cs typeface="Calibri"/>
                <a:sym typeface="Calibri"/>
              </a:rPr>
              <a:t>NET</a:t>
            </a:r>
            <a:r>
              <a:rPr lang="en-US" sz="1600">
                <a:solidFill>
                  <a:schemeClr val="dk1"/>
                </a:solidFill>
                <a:latin typeface="Calibri"/>
                <a:ea typeface="Calibri"/>
                <a:cs typeface="Calibri"/>
                <a:sym typeface="Calibri"/>
              </a:rPr>
              <a:t>” search, this is how your network in common views your phonebook contacts.  It excludes your input.  So, it’s a rank based on your networks tagging, followed by a weight based on their rating.</a:t>
            </a:r>
            <a:endParaRPr/>
          </a:p>
          <a:p>
            <a:pPr indent="0" lvl="0" marL="0" marR="0" rtl="0" algn="l">
              <a:spcBef>
                <a:spcPts val="0"/>
              </a:spcBef>
              <a:spcAft>
                <a:spcPts val="0"/>
              </a:spcAft>
              <a:buNone/>
            </a:pP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These users would have to be LinkedIn or Bee’s Chest users for the software to know that the individual is in the same person between users.</a:t>
            </a:r>
            <a:endParaRPr sz="16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9"/>
          <p:cNvSpPr txBox="1"/>
          <p:nvPr/>
        </p:nvSpPr>
        <p:spPr>
          <a:xfrm>
            <a:off x="2987566" y="16534"/>
            <a:ext cx="8458200" cy="846385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Calibri"/>
                <a:ea typeface="Calibri"/>
                <a:cs typeface="Calibri"/>
                <a:sym typeface="Calibri"/>
              </a:rPr>
              <a:t>CONSIDERATIONS</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Tag all features “buttons”  to see where you user interacts – usability testing</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Login through FB and Twitter?! – pull job title and job.  See if hobbies or interests can be pulled into personality?!</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Match phone identity with LinkedIn identity by email or phone number.  For duplicate names, function that recommends joining phone profiles.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If not LinkedIn user, could add functionality to  scrape resume or doc and drop into our own fields like how LinkedIn does it.</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Web service  - basic registration online and link to download app.  What’s the plan?</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Relational database?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Security? – what needs to be done to prevent hacking into our data?</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Invitation for users who might want to share contact</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Fields from LI, fields from phone, background architecture</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Generation of game when match is made</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Server – populates newest data set – when you rank or tag attribute – can store and then load when connected…</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Full contact list on device</a:t>
            </a:r>
            <a:endParaRPr/>
          </a:p>
          <a:p>
            <a:pPr indent="0" lvl="0" marL="0" marR="0" rtl="0" algn="l">
              <a:spcBef>
                <a:spcPts val="0"/>
              </a:spcBef>
              <a:spcAft>
                <a:spcPts val="0"/>
              </a:spcAft>
              <a:buNone/>
            </a:pP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When first login may load photos … store on phone… save on dowloading everytime and have work when offline</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User connects to server – server to network back to user.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id="357" name="Google Shape;357;p19"/>
          <p:cNvPicPr preferRelativeResize="0"/>
          <p:nvPr>
            <p:ph idx="1" type="body"/>
          </p:nvPr>
        </p:nvPicPr>
        <p:blipFill rotWithShape="1">
          <a:blip r:embed="rId3">
            <a:alphaModFix/>
          </a:blip>
          <a:srcRect b="2058" l="35352" r="35727" t="2496"/>
          <a:stretch/>
        </p:blipFill>
        <p:spPr>
          <a:xfrm>
            <a:off x="228600" y="373117"/>
            <a:ext cx="2590800" cy="6416565"/>
          </a:xfrm>
          <a:prstGeom prst="rect">
            <a:avLst/>
          </a:prstGeom>
          <a:noFill/>
          <a:ln>
            <a:noFill/>
          </a:ln>
        </p:spPr>
      </p:pic>
      <p:sp>
        <p:nvSpPr>
          <p:cNvPr id="358" name="Google Shape;358;p19"/>
          <p:cNvSpPr/>
          <p:nvPr/>
        </p:nvSpPr>
        <p:spPr>
          <a:xfrm>
            <a:off x="381000" y="1558158"/>
            <a:ext cx="2286000" cy="403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19"/>
          <p:cNvSpPr/>
          <p:nvPr/>
        </p:nvSpPr>
        <p:spPr>
          <a:xfrm>
            <a:off x="381000" y="1558158"/>
            <a:ext cx="2286000" cy="457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 name="Google Shape;360;p19"/>
          <p:cNvSpPr txBox="1"/>
          <p:nvPr/>
        </p:nvSpPr>
        <p:spPr>
          <a:xfrm>
            <a:off x="381000" y="1558158"/>
            <a:ext cx="8382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Search</a:t>
            </a:r>
            <a:endParaRPr sz="1800">
              <a:solidFill>
                <a:schemeClr val="dk1"/>
              </a:solidFill>
              <a:latin typeface="Calibri"/>
              <a:ea typeface="Calibri"/>
              <a:cs typeface="Calibri"/>
              <a:sym typeface="Calibri"/>
            </a:endParaRPr>
          </a:p>
        </p:txBody>
      </p:sp>
      <p:sp>
        <p:nvSpPr>
          <p:cNvPr id="361" name="Google Shape;361;p19"/>
          <p:cNvSpPr txBox="1"/>
          <p:nvPr/>
        </p:nvSpPr>
        <p:spPr>
          <a:xfrm>
            <a:off x="1524000" y="1616737"/>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ABC</a:t>
            </a:r>
            <a:endParaRPr sz="1000">
              <a:solidFill>
                <a:schemeClr val="dk1"/>
              </a:solidFill>
              <a:latin typeface="Calibri"/>
              <a:ea typeface="Calibri"/>
              <a:cs typeface="Calibri"/>
              <a:sym typeface="Calibri"/>
            </a:endParaRPr>
          </a:p>
        </p:txBody>
      </p:sp>
      <p:sp>
        <p:nvSpPr>
          <p:cNvPr id="362" name="Google Shape;362;p19"/>
          <p:cNvSpPr txBox="1"/>
          <p:nvPr/>
        </p:nvSpPr>
        <p:spPr>
          <a:xfrm>
            <a:off x="1828800" y="1616737"/>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You</a:t>
            </a:r>
            <a:endParaRPr sz="1000">
              <a:solidFill>
                <a:schemeClr val="dk1"/>
              </a:solidFill>
              <a:latin typeface="Calibri"/>
              <a:ea typeface="Calibri"/>
              <a:cs typeface="Calibri"/>
              <a:sym typeface="Calibri"/>
            </a:endParaRPr>
          </a:p>
        </p:txBody>
      </p:sp>
      <p:sp>
        <p:nvSpPr>
          <p:cNvPr id="363" name="Google Shape;363;p19"/>
          <p:cNvSpPr txBox="1"/>
          <p:nvPr/>
        </p:nvSpPr>
        <p:spPr>
          <a:xfrm>
            <a:off x="2057400" y="1634358"/>
            <a:ext cx="533400"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NET</a:t>
            </a:r>
            <a:endParaRPr sz="1000">
              <a:solidFill>
                <a:schemeClr val="dk1"/>
              </a:solidFill>
              <a:latin typeface="Calibri"/>
              <a:ea typeface="Calibri"/>
              <a:cs typeface="Calibri"/>
              <a:sym typeface="Calibri"/>
            </a:endParaRPr>
          </a:p>
        </p:txBody>
      </p:sp>
      <p:cxnSp>
        <p:nvCxnSpPr>
          <p:cNvPr id="364" name="Google Shape;364;p19"/>
          <p:cNvCxnSpPr/>
          <p:nvPr/>
        </p:nvCxnSpPr>
        <p:spPr>
          <a:xfrm>
            <a:off x="1524000" y="1558158"/>
            <a:ext cx="0" cy="457200"/>
          </a:xfrm>
          <a:prstGeom prst="straightConnector1">
            <a:avLst/>
          </a:prstGeom>
          <a:noFill/>
          <a:ln cap="flat" cmpd="sng" w="9525">
            <a:solidFill>
              <a:schemeClr val="dk1"/>
            </a:solidFill>
            <a:prstDash val="solid"/>
            <a:round/>
            <a:headEnd len="sm" w="sm" type="none"/>
            <a:tailEnd len="sm" w="sm" type="none"/>
          </a:ln>
        </p:spPr>
      </p:cxnSp>
      <p:cxnSp>
        <p:nvCxnSpPr>
          <p:cNvPr id="365" name="Google Shape;365;p19"/>
          <p:cNvCxnSpPr/>
          <p:nvPr/>
        </p:nvCxnSpPr>
        <p:spPr>
          <a:xfrm>
            <a:off x="1828800" y="1558158"/>
            <a:ext cx="0" cy="457200"/>
          </a:xfrm>
          <a:prstGeom prst="straightConnector1">
            <a:avLst/>
          </a:prstGeom>
          <a:noFill/>
          <a:ln cap="flat" cmpd="sng" w="9525">
            <a:solidFill>
              <a:schemeClr val="dk1"/>
            </a:solidFill>
            <a:prstDash val="solid"/>
            <a:round/>
            <a:headEnd len="sm" w="sm" type="none"/>
            <a:tailEnd len="sm" w="sm" type="none"/>
          </a:ln>
        </p:spPr>
      </p:cxnSp>
      <p:cxnSp>
        <p:nvCxnSpPr>
          <p:cNvPr id="366" name="Google Shape;366;p19"/>
          <p:cNvCxnSpPr/>
          <p:nvPr/>
        </p:nvCxnSpPr>
        <p:spPr>
          <a:xfrm>
            <a:off x="2133600" y="1558158"/>
            <a:ext cx="0" cy="457200"/>
          </a:xfrm>
          <a:prstGeom prst="straightConnector1">
            <a:avLst/>
          </a:prstGeom>
          <a:noFill/>
          <a:ln cap="flat" cmpd="sng" w="9525">
            <a:solidFill>
              <a:schemeClr val="dk1"/>
            </a:solidFill>
            <a:prstDash val="solid"/>
            <a:round/>
            <a:headEnd len="sm" w="sm" type="none"/>
            <a:tailEnd len="sm" w="sm" type="none"/>
          </a:ln>
        </p:spPr>
      </p:cxnSp>
      <p:sp>
        <p:nvSpPr>
          <p:cNvPr id="367" name="Google Shape;367;p19"/>
          <p:cNvSpPr txBox="1"/>
          <p:nvPr/>
        </p:nvSpPr>
        <p:spPr>
          <a:xfrm>
            <a:off x="381000" y="1939158"/>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pic>
        <p:nvPicPr>
          <p:cNvPr id="368" name="Google Shape;368;p19"/>
          <p:cNvPicPr preferRelativeResize="0"/>
          <p:nvPr/>
        </p:nvPicPr>
        <p:blipFill rotWithShape="1">
          <a:blip r:embed="rId4">
            <a:alphaModFix/>
          </a:blip>
          <a:srcRect b="0" l="0" r="0" t="0"/>
          <a:stretch/>
        </p:blipFill>
        <p:spPr>
          <a:xfrm>
            <a:off x="519687" y="2153471"/>
            <a:ext cx="623887" cy="623887"/>
          </a:xfrm>
          <a:prstGeom prst="rect">
            <a:avLst/>
          </a:prstGeom>
          <a:noFill/>
          <a:ln>
            <a:noFill/>
          </a:ln>
        </p:spPr>
      </p:pic>
      <p:sp>
        <p:nvSpPr>
          <p:cNvPr id="369" name="Google Shape;369;p19"/>
          <p:cNvSpPr txBox="1"/>
          <p:nvPr/>
        </p:nvSpPr>
        <p:spPr>
          <a:xfrm>
            <a:off x="381000" y="2929758"/>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sp>
        <p:nvSpPr>
          <p:cNvPr id="370" name="Google Shape;370;p19"/>
          <p:cNvSpPr txBox="1"/>
          <p:nvPr/>
        </p:nvSpPr>
        <p:spPr>
          <a:xfrm>
            <a:off x="378372" y="3939229"/>
            <a:ext cx="2286000"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Company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Position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University</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Last Degree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cxnSp>
        <p:nvCxnSpPr>
          <p:cNvPr id="371" name="Google Shape;371;p19"/>
          <p:cNvCxnSpPr/>
          <p:nvPr/>
        </p:nvCxnSpPr>
        <p:spPr>
          <a:xfrm>
            <a:off x="381000" y="3005958"/>
            <a:ext cx="2283372" cy="0"/>
          </a:xfrm>
          <a:prstGeom prst="straightConnector1">
            <a:avLst/>
          </a:prstGeom>
          <a:noFill/>
          <a:ln cap="flat" cmpd="sng" w="9525">
            <a:solidFill>
              <a:schemeClr val="dk1"/>
            </a:solidFill>
            <a:prstDash val="solid"/>
            <a:round/>
            <a:headEnd len="sm" w="sm" type="none"/>
            <a:tailEnd len="sm" w="sm" type="none"/>
          </a:ln>
        </p:spPr>
      </p:cxnSp>
      <p:cxnSp>
        <p:nvCxnSpPr>
          <p:cNvPr id="372" name="Google Shape;372;p19"/>
          <p:cNvCxnSpPr/>
          <p:nvPr/>
        </p:nvCxnSpPr>
        <p:spPr>
          <a:xfrm>
            <a:off x="383628" y="3996558"/>
            <a:ext cx="2283372" cy="0"/>
          </a:xfrm>
          <a:prstGeom prst="straightConnector1">
            <a:avLst/>
          </a:prstGeom>
          <a:noFill/>
          <a:ln cap="flat" cmpd="sng" w="9525">
            <a:solidFill>
              <a:schemeClr val="dk1"/>
            </a:solidFill>
            <a:prstDash val="solid"/>
            <a:round/>
            <a:headEnd len="sm" w="sm" type="none"/>
            <a:tailEnd len="sm" w="sm" type="none"/>
          </a:ln>
        </p:spPr>
      </p:cxnSp>
      <p:cxnSp>
        <p:nvCxnSpPr>
          <p:cNvPr id="373" name="Google Shape;373;p19"/>
          <p:cNvCxnSpPr/>
          <p:nvPr/>
        </p:nvCxnSpPr>
        <p:spPr>
          <a:xfrm>
            <a:off x="367862" y="5063358"/>
            <a:ext cx="2283372" cy="0"/>
          </a:xfrm>
          <a:prstGeom prst="straightConnector1">
            <a:avLst/>
          </a:prstGeom>
          <a:noFill/>
          <a:ln cap="flat" cmpd="sng" w="9525">
            <a:solidFill>
              <a:schemeClr val="dk1"/>
            </a:solidFill>
            <a:prstDash val="solid"/>
            <a:round/>
            <a:headEnd len="sm" w="sm" type="none"/>
            <a:tailEnd len="sm" w="sm" type="none"/>
          </a:ln>
        </p:spPr>
      </p:cxnSp>
      <p:sp>
        <p:nvSpPr>
          <p:cNvPr id="374" name="Google Shape;374;p19"/>
          <p:cNvSpPr txBox="1"/>
          <p:nvPr/>
        </p:nvSpPr>
        <p:spPr>
          <a:xfrm>
            <a:off x="383628" y="5121937"/>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Contacts</a:t>
            </a:r>
            <a:endParaRPr sz="1000">
              <a:solidFill>
                <a:schemeClr val="dk1"/>
              </a:solidFill>
              <a:latin typeface="Calibri"/>
              <a:ea typeface="Calibri"/>
              <a:cs typeface="Calibri"/>
              <a:sym typeface="Calibri"/>
            </a:endParaRPr>
          </a:p>
        </p:txBody>
      </p:sp>
      <p:sp>
        <p:nvSpPr>
          <p:cNvPr id="375" name="Google Shape;375;p19"/>
          <p:cNvSpPr txBox="1"/>
          <p:nvPr/>
        </p:nvSpPr>
        <p:spPr>
          <a:xfrm>
            <a:off x="1145341" y="5121937"/>
            <a:ext cx="759946" cy="2462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Profile</a:t>
            </a:r>
            <a:endParaRPr sz="1000">
              <a:solidFill>
                <a:schemeClr val="dk1"/>
              </a:solidFill>
              <a:latin typeface="Calibri"/>
              <a:ea typeface="Calibri"/>
              <a:cs typeface="Calibri"/>
              <a:sym typeface="Calibri"/>
            </a:endParaRPr>
          </a:p>
        </p:txBody>
      </p:sp>
      <p:sp>
        <p:nvSpPr>
          <p:cNvPr id="376" name="Google Shape;376;p19"/>
          <p:cNvSpPr txBox="1"/>
          <p:nvPr/>
        </p:nvSpPr>
        <p:spPr>
          <a:xfrm>
            <a:off x="1853762" y="5121936"/>
            <a:ext cx="759946"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Bee’s Chest</a:t>
            </a:r>
            <a:endParaRPr sz="1000">
              <a:solidFill>
                <a:schemeClr val="dk1"/>
              </a:solidFill>
              <a:latin typeface="Calibri"/>
              <a:ea typeface="Calibri"/>
              <a:cs typeface="Calibri"/>
              <a:sym typeface="Calibri"/>
            </a:endParaRPr>
          </a:p>
        </p:txBody>
      </p:sp>
      <p:pic>
        <p:nvPicPr>
          <p:cNvPr id="377" name="Google Shape;377;p19"/>
          <p:cNvPicPr preferRelativeResize="0"/>
          <p:nvPr/>
        </p:nvPicPr>
        <p:blipFill rotWithShape="1">
          <a:blip r:embed="rId5">
            <a:alphaModFix/>
          </a:blip>
          <a:srcRect b="0" l="0" r="0" t="0"/>
          <a:stretch/>
        </p:blipFill>
        <p:spPr>
          <a:xfrm>
            <a:off x="519687" y="4225158"/>
            <a:ext cx="608587" cy="615875"/>
          </a:xfrm>
          <a:prstGeom prst="rect">
            <a:avLst/>
          </a:prstGeom>
          <a:noFill/>
          <a:ln>
            <a:noFill/>
          </a:ln>
        </p:spPr>
      </p:pic>
      <p:pic>
        <p:nvPicPr>
          <p:cNvPr id="378" name="Google Shape;378;p19"/>
          <p:cNvPicPr preferRelativeResize="0"/>
          <p:nvPr/>
        </p:nvPicPr>
        <p:blipFill rotWithShape="1">
          <a:blip r:embed="rId6">
            <a:alphaModFix/>
          </a:blip>
          <a:srcRect b="0" l="0" r="0" t="0"/>
          <a:stretch/>
        </p:blipFill>
        <p:spPr>
          <a:xfrm>
            <a:off x="518660" y="3175439"/>
            <a:ext cx="593093" cy="668719"/>
          </a:xfrm>
          <a:prstGeom prst="rect">
            <a:avLst/>
          </a:prstGeom>
          <a:noFill/>
          <a:ln>
            <a:noFill/>
          </a:ln>
        </p:spPr>
      </p:pic>
      <p:pic>
        <p:nvPicPr>
          <p:cNvPr id="379" name="Google Shape;379;p19"/>
          <p:cNvPicPr preferRelativeResize="0"/>
          <p:nvPr/>
        </p:nvPicPr>
        <p:blipFill rotWithShape="1">
          <a:blip r:embed="rId7">
            <a:alphaModFix/>
          </a:blip>
          <a:srcRect b="0" l="0" r="0" t="0"/>
          <a:stretch/>
        </p:blipFill>
        <p:spPr>
          <a:xfrm>
            <a:off x="2400301" y="1524054"/>
            <a:ext cx="250934" cy="468970"/>
          </a:xfrm>
          <a:prstGeom prst="rect">
            <a:avLst/>
          </a:prstGeom>
          <a:noFill/>
          <a:ln>
            <a:noFill/>
          </a:ln>
        </p:spPr>
      </p:pic>
      <p:cxnSp>
        <p:nvCxnSpPr>
          <p:cNvPr id="380" name="Google Shape;380;p19"/>
          <p:cNvCxnSpPr/>
          <p:nvPr/>
        </p:nvCxnSpPr>
        <p:spPr>
          <a:xfrm>
            <a:off x="1066800" y="5068998"/>
            <a:ext cx="0" cy="457200"/>
          </a:xfrm>
          <a:prstGeom prst="straightConnector1">
            <a:avLst/>
          </a:prstGeom>
          <a:noFill/>
          <a:ln cap="flat" cmpd="sng" w="9525">
            <a:solidFill>
              <a:schemeClr val="dk1"/>
            </a:solidFill>
            <a:prstDash val="solid"/>
            <a:round/>
            <a:headEnd len="sm" w="sm" type="none"/>
            <a:tailEnd len="sm" w="sm" type="none"/>
          </a:ln>
        </p:spPr>
      </p:cxnSp>
      <p:cxnSp>
        <p:nvCxnSpPr>
          <p:cNvPr id="381" name="Google Shape;381;p19"/>
          <p:cNvCxnSpPr/>
          <p:nvPr/>
        </p:nvCxnSpPr>
        <p:spPr>
          <a:xfrm>
            <a:off x="1819603" y="5069383"/>
            <a:ext cx="0" cy="457200"/>
          </a:xfrm>
          <a:prstGeom prst="straightConnector1">
            <a:avLst/>
          </a:prstGeom>
          <a:noFill/>
          <a:ln cap="flat" cmpd="sng" w="9525">
            <a:solidFill>
              <a:schemeClr val="dk1"/>
            </a:solidFill>
            <a:prstDash val="solid"/>
            <a:round/>
            <a:headEnd len="sm" w="sm" type="none"/>
            <a:tailEnd len="sm" w="sm" type="none"/>
          </a:ln>
        </p:spPr>
      </p:cxnSp>
      <p:pic>
        <p:nvPicPr>
          <p:cNvPr id="382" name="Google Shape;382;p19"/>
          <p:cNvPicPr preferRelativeResize="0"/>
          <p:nvPr/>
        </p:nvPicPr>
        <p:blipFill rotWithShape="1">
          <a:blip r:embed="rId8">
            <a:alphaModFix/>
          </a:blip>
          <a:srcRect b="50417" l="49078" r="41318" t="43750"/>
          <a:stretch/>
        </p:blipFill>
        <p:spPr>
          <a:xfrm>
            <a:off x="883920" y="149600"/>
            <a:ext cx="1249680" cy="4267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id="387" name="Google Shape;387;p20"/>
          <p:cNvPicPr preferRelativeResize="0"/>
          <p:nvPr/>
        </p:nvPicPr>
        <p:blipFill rotWithShape="1">
          <a:blip r:embed="rId3">
            <a:alphaModFix/>
          </a:blip>
          <a:srcRect b="2058" l="35352" r="35727" t="2496"/>
          <a:stretch/>
        </p:blipFill>
        <p:spPr>
          <a:xfrm>
            <a:off x="3040939" y="2286000"/>
            <a:ext cx="1218482" cy="3017782"/>
          </a:xfrm>
          <a:prstGeom prst="rect">
            <a:avLst/>
          </a:prstGeom>
          <a:noFill/>
          <a:ln>
            <a:noFill/>
          </a:ln>
        </p:spPr>
      </p:pic>
      <p:sp>
        <p:nvSpPr>
          <p:cNvPr id="388" name="Google Shape;388;p20"/>
          <p:cNvSpPr/>
          <p:nvPr/>
        </p:nvSpPr>
        <p:spPr>
          <a:xfrm>
            <a:off x="3117857" y="2819400"/>
            <a:ext cx="1142282" cy="19050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389" name="Google Shape;389;p20"/>
          <p:cNvSpPr txBox="1"/>
          <p:nvPr/>
        </p:nvSpPr>
        <p:spPr>
          <a:xfrm>
            <a:off x="3124200" y="3441325"/>
            <a:ext cx="1105377" cy="107721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1. User on</a:t>
            </a:r>
            <a:endParaRPr/>
          </a:p>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ctr">
              <a:spcBef>
                <a:spcPts val="0"/>
              </a:spcBef>
              <a:spcAft>
                <a:spcPts val="0"/>
              </a:spcAft>
              <a:buNone/>
            </a:pPr>
            <a:r>
              <a:rPr lang="en-US" sz="1600">
                <a:solidFill>
                  <a:schemeClr val="dk1"/>
                </a:solidFill>
                <a:latin typeface="Calibri"/>
                <a:ea typeface="Calibri"/>
                <a:cs typeface="Calibri"/>
                <a:sym typeface="Calibri"/>
              </a:rPr>
              <a:t>Bee’s Chest</a:t>
            </a:r>
            <a:endParaRPr sz="1600">
              <a:solidFill>
                <a:schemeClr val="dk1"/>
              </a:solidFill>
              <a:latin typeface="Calibri"/>
              <a:ea typeface="Calibri"/>
              <a:cs typeface="Calibri"/>
              <a:sym typeface="Calibri"/>
            </a:endParaRPr>
          </a:p>
        </p:txBody>
      </p:sp>
      <p:graphicFrame>
        <p:nvGraphicFramePr>
          <p:cNvPr id="390" name="Google Shape;390;p20"/>
          <p:cNvGraphicFramePr/>
          <p:nvPr/>
        </p:nvGraphicFramePr>
        <p:xfrm>
          <a:off x="304800" y="5486400"/>
          <a:ext cx="3000000" cy="3000000"/>
        </p:xfrm>
        <a:graphic>
          <a:graphicData uri="http://schemas.openxmlformats.org/drawingml/2006/table">
            <a:tbl>
              <a:tblPr>
                <a:noFill/>
                <a:tableStyleId>{B31D4C08-7A23-436F-B387-1174914BCB76}</a:tableStyleId>
              </a:tblPr>
              <a:tblGrid>
                <a:gridCol w="390375"/>
                <a:gridCol w="343325"/>
                <a:gridCol w="276875"/>
                <a:gridCol w="498350"/>
                <a:gridCol w="323875"/>
                <a:gridCol w="589725"/>
                <a:gridCol w="786300"/>
                <a:gridCol w="589725"/>
                <a:gridCol w="465150"/>
                <a:gridCol w="498350"/>
                <a:gridCol w="531600"/>
                <a:gridCol w="531600"/>
                <a:gridCol w="531600"/>
                <a:gridCol w="376550"/>
                <a:gridCol w="423600"/>
                <a:gridCol w="498350"/>
                <a:gridCol w="531600"/>
                <a:gridCol w="390375"/>
              </a:tblGrid>
              <a:tr h="167025">
                <a:tc gridSpan="4">
                  <a:txBody>
                    <a:bodyPr/>
                    <a:lstStyle/>
                    <a:p>
                      <a:pPr indent="0" lvl="0" marL="0" marR="0" rtl="0" algn="ctr">
                        <a:spcBef>
                          <a:spcPts val="0"/>
                        </a:spcBef>
                        <a:spcAft>
                          <a:spcPts val="0"/>
                        </a:spcAft>
                        <a:buNone/>
                      </a:pPr>
                      <a:r>
                        <a:rPr b="1" i="0" lang="en-US" sz="700" u="none" cap="none" strike="noStrike">
                          <a:solidFill>
                            <a:srgbClr val="FFFFFF"/>
                          </a:solidFill>
                          <a:latin typeface="Calibri"/>
                          <a:ea typeface="Calibri"/>
                          <a:cs typeface="Calibri"/>
                          <a:sym typeface="Calibri"/>
                        </a:rPr>
                        <a:t>PHONE</a:t>
                      </a:r>
                      <a:endParaRPr/>
                    </a:p>
                  </a:txBody>
                  <a:tcPr marT="7950" marB="0" marR="7950" marL="79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FBFBF"/>
                    </a:solidFill>
                  </a:tcPr>
                </a:tc>
                <a:tc hMerge="1"/>
                <a:tc hMerge="1"/>
                <a:tc hMerge="1"/>
                <a:tc>
                  <a:txBody>
                    <a:bodyPr/>
                    <a:lstStyle/>
                    <a:p>
                      <a:pPr indent="0" lvl="0" marL="0" marR="0" rtl="0" algn="ctr">
                        <a:spcBef>
                          <a:spcPts val="0"/>
                        </a:spcBef>
                        <a:spcAft>
                          <a:spcPts val="0"/>
                        </a:spcAft>
                        <a:buNone/>
                      </a:pPr>
                      <a:r>
                        <a:rPr b="1" i="0" lang="en-US" sz="700" u="none" cap="none" strike="noStrike">
                          <a:solidFill>
                            <a:srgbClr val="000000"/>
                          </a:solidFill>
                          <a:latin typeface="Calibri"/>
                          <a:ea typeface="Calibri"/>
                          <a:cs typeface="Calibri"/>
                          <a:sym typeface="Calibri"/>
                        </a:rPr>
                        <a:t>USER</a:t>
                      </a:r>
                      <a:endParaRPr/>
                    </a:p>
                  </a:txBody>
                  <a:tcPr marT="7950" marB="0" marR="7950" marL="79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AEEF3"/>
                    </a:solidFill>
                  </a:tcPr>
                </a:tc>
                <a:tc gridSpan="13">
                  <a:txBody>
                    <a:bodyPr/>
                    <a:lstStyle/>
                    <a:p>
                      <a:pPr indent="0" lvl="0" marL="0" marR="0" rtl="0" algn="ctr">
                        <a:spcBef>
                          <a:spcPts val="0"/>
                        </a:spcBef>
                        <a:spcAft>
                          <a:spcPts val="0"/>
                        </a:spcAft>
                        <a:buNone/>
                      </a:pPr>
                      <a:r>
                        <a:rPr b="1" i="0" lang="en-US" sz="700" u="none" cap="none" strike="noStrike">
                          <a:solidFill>
                            <a:srgbClr val="FFFFFF"/>
                          </a:solidFill>
                          <a:latin typeface="Calibri"/>
                          <a:ea typeface="Calibri"/>
                          <a:cs typeface="Calibri"/>
                          <a:sym typeface="Calibri"/>
                        </a:rPr>
                        <a:t>LINKEDIN</a:t>
                      </a:r>
                      <a:endParaRPr/>
                    </a:p>
                  </a:txBody>
                  <a:tcPr marT="7950" marB="0" marR="7950" marL="79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B0F0"/>
                    </a:solidFill>
                  </a:tcPr>
                </a:tc>
                <a:tc hMerge="1"/>
                <a:tc hMerge="1"/>
                <a:tc hMerge="1"/>
                <a:tc hMerge="1"/>
                <a:tc hMerge="1"/>
                <a:tc hMerge="1"/>
                <a:tc hMerge="1"/>
                <a:tc hMerge="1"/>
                <a:tc hMerge="1"/>
                <a:tc hMerge="1"/>
                <a:tc hMerge="1"/>
                <a:tc hMerge="1"/>
              </a:tr>
              <a:tr h="485175">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Phone Number</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Work Phone</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Email</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Timestamp Call</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a:txBody>
                    <a:bodyPr/>
                    <a:lstStyle/>
                    <a:p>
                      <a:pPr indent="0" lvl="0" marL="0" marR="0" rtl="0" algn="ctr">
                        <a:spcBef>
                          <a:spcPts val="0"/>
                        </a:spcBef>
                        <a:spcAft>
                          <a:spcPts val="0"/>
                        </a:spcAft>
                        <a:buNone/>
                      </a:pPr>
                      <a:r>
                        <a:rPr b="1" i="0" lang="en-US" sz="700" u="none" cap="none" strike="noStrike">
                          <a:solidFill>
                            <a:srgbClr val="000000"/>
                          </a:solidFill>
                          <a:latin typeface="Calibri"/>
                          <a:ea typeface="Calibri"/>
                          <a:cs typeface="Calibri"/>
                          <a:sym typeface="Calibri"/>
                        </a:rPr>
                        <a:t>Overlay</a:t>
                      </a:r>
                      <a:endParaRPr/>
                    </a:p>
                    <a:p>
                      <a:pPr indent="0" lvl="0" marL="0" marR="0" rtl="0" algn="ctr">
                        <a:spcBef>
                          <a:spcPts val="0"/>
                        </a:spcBef>
                        <a:spcAft>
                          <a:spcPts val="0"/>
                        </a:spcAft>
                        <a:buNone/>
                      </a:pPr>
                      <a:r>
                        <a:rPr b="1" i="0" lang="en-US" sz="700" u="none" cap="none" strike="noStrike">
                          <a:solidFill>
                            <a:srgbClr val="000000"/>
                          </a:solidFill>
                          <a:latin typeface="Calibri"/>
                          <a:ea typeface="Calibri"/>
                          <a:cs typeface="Calibri"/>
                          <a:sym typeface="Calibri"/>
                        </a:rPr>
                        <a:t>(Tags)</a:t>
                      </a:r>
                      <a:endParaRPr b="1" i="0" sz="700" u="none" cap="none" strike="noStrike">
                        <a:solidFill>
                          <a:srgbClr val="000000"/>
                        </a:solidFill>
                        <a:latin typeface="Calibri"/>
                        <a:ea typeface="Calibri"/>
                        <a:cs typeface="Calibri"/>
                        <a:sym typeface="Calibri"/>
                      </a:endParaRPr>
                    </a:p>
                  </a:txBody>
                  <a:tcPr marT="7950" marB="0" marR="7950" marL="7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AEEF3"/>
                    </a:solidFill>
                  </a:tcPr>
                </a:tc>
                <a:tc>
                  <a:txBody>
                    <a:bodyPr/>
                    <a:lstStyle/>
                    <a:p>
                      <a:pPr indent="0" lvl="0" marL="0" marR="0" rtl="0" algn="l">
                        <a:spcBef>
                          <a:spcPts val="0"/>
                        </a:spcBef>
                        <a:spcAft>
                          <a:spcPts val="0"/>
                        </a:spcAft>
                        <a:buNone/>
                      </a:pPr>
                      <a:r>
                        <a:t/>
                      </a:r>
                      <a:endParaRPr b="0" i="0" sz="700"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t/>
                      </a:r>
                      <a:endParaRPr b="0" i="0" sz="700"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Company 1</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Job Function 1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University 1</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Degree 1</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700" u="none" cap="none" strike="noStrike">
                          <a:solidFill>
                            <a:srgbClr val="000000"/>
                          </a:solidFill>
                          <a:latin typeface="Calibri"/>
                          <a:ea typeface="Calibri"/>
                          <a:cs typeface="Calibri"/>
                          <a:sym typeface="Calibri"/>
                        </a:rPr>
                        <a:t>Start Year for each job function</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700" u="none" cap="none" strike="noStrike">
                          <a:solidFill>
                            <a:srgbClr val="000000"/>
                          </a:solidFill>
                          <a:latin typeface="Calibri"/>
                          <a:ea typeface="Calibri"/>
                          <a:cs typeface="Calibri"/>
                          <a:sym typeface="Calibri"/>
                        </a:rPr>
                        <a:t>End Year for each job function</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1st degree Network connections</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700" u="none" cap="none" strike="noStrike">
                          <a:solidFill>
                            <a:srgbClr val="000000"/>
                          </a:solidFill>
                          <a:latin typeface="Calibri"/>
                          <a:ea typeface="Calibri"/>
                          <a:cs typeface="Calibri"/>
                          <a:sym typeface="Calibri"/>
                        </a:rPr>
                        <a:t>Activities and Societies</a:t>
                      </a:r>
                      <a:endParaRPr/>
                    </a:p>
                  </a:txBody>
                  <a:tcPr marT="7950" marB="0" marR="7950" marL="7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700" u="none" cap="none" strike="noStrike">
                          <a:solidFill>
                            <a:srgbClr val="000000"/>
                          </a:solidFill>
                          <a:latin typeface="Calibri"/>
                          <a:ea typeface="Calibri"/>
                          <a:cs typeface="Calibri"/>
                          <a:sym typeface="Calibri"/>
                        </a:rPr>
                        <a:t>Courses</a:t>
                      </a:r>
                      <a:endParaRPr/>
                    </a:p>
                  </a:txBody>
                  <a:tcPr marT="7950" marB="0" marR="7950" marL="7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700" u="none" cap="none" strike="noStrike">
                          <a:solidFill>
                            <a:srgbClr val="000000"/>
                          </a:solidFill>
                          <a:latin typeface="Calibri"/>
                          <a:ea typeface="Calibri"/>
                          <a:cs typeface="Calibri"/>
                          <a:sym typeface="Calibri"/>
                        </a:rPr>
                        <a:t>Skills and Expertise</a:t>
                      </a:r>
                      <a:endParaRPr/>
                    </a:p>
                  </a:txBody>
                  <a:tcPr marT="7950" marB="0" marR="7950" marL="7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700" u="none" cap="none" strike="noStrike">
                          <a:solidFill>
                            <a:srgbClr val="000000"/>
                          </a:solidFill>
                          <a:latin typeface="Calibri"/>
                          <a:ea typeface="Calibri"/>
                          <a:cs typeface="Calibri"/>
                          <a:sym typeface="Calibri"/>
                        </a:rPr>
                        <a:t>Languages</a:t>
                      </a:r>
                      <a:endParaRPr/>
                    </a:p>
                  </a:txBody>
                  <a:tcPr marT="7950" marB="0" marR="7950" marL="7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700" u="none" cap="none" strike="noStrike">
                          <a:solidFill>
                            <a:srgbClr val="000000"/>
                          </a:solidFill>
                          <a:latin typeface="Calibri"/>
                          <a:ea typeface="Calibri"/>
                          <a:cs typeface="Calibri"/>
                          <a:sym typeface="Calibri"/>
                        </a:rPr>
                        <a:t>Email (to match against phone)</a:t>
                      </a:r>
                      <a:endParaRPr/>
                    </a:p>
                  </a:txBody>
                  <a:tcPr marT="7950" marB="0" marR="7950" marL="7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700" u="none" cap="none" strike="noStrike">
                          <a:solidFill>
                            <a:srgbClr val="000000"/>
                          </a:solidFill>
                          <a:latin typeface="Calibri"/>
                          <a:ea typeface="Calibri"/>
                          <a:cs typeface="Calibri"/>
                          <a:sym typeface="Calibri"/>
                        </a:rPr>
                        <a:t>Groups</a:t>
                      </a:r>
                      <a:endParaRPr/>
                    </a:p>
                  </a:txBody>
                  <a:tcPr marT="7950" marB="0" marR="7950" marL="79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59075">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Company 2</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Job Function 2</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University 2</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Degree 2</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59075">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Company 3</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Job Function 3</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59075">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US" sz="700" u="none" cap="none" strike="noStrike">
                          <a:solidFill>
                            <a:srgbClr val="000000"/>
                          </a:solidFill>
                          <a:latin typeface="Calibri"/>
                          <a:ea typeface="Calibri"/>
                          <a:cs typeface="Calibri"/>
                          <a:sym typeface="Calibri"/>
                        </a:rPr>
                        <a:t> </a:t>
                      </a:r>
                      <a:endParaRPr/>
                    </a:p>
                  </a:txBody>
                  <a:tcPr marT="7950" marB="0" marR="7950" marL="795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391" name="Google Shape;391;p20"/>
          <p:cNvPicPr preferRelativeResize="0"/>
          <p:nvPr/>
        </p:nvPicPr>
        <p:blipFill rotWithShape="1">
          <a:blip r:embed="rId4">
            <a:alphaModFix/>
          </a:blip>
          <a:srcRect b="0" l="0" r="0" t="0"/>
          <a:stretch/>
        </p:blipFill>
        <p:spPr>
          <a:xfrm>
            <a:off x="4914900" y="64872"/>
            <a:ext cx="1447800" cy="1164032"/>
          </a:xfrm>
          <a:prstGeom prst="rect">
            <a:avLst/>
          </a:prstGeom>
          <a:noFill/>
          <a:ln>
            <a:noFill/>
          </a:ln>
        </p:spPr>
      </p:pic>
      <p:pic>
        <p:nvPicPr>
          <p:cNvPr id="392" name="Google Shape;392;p20"/>
          <p:cNvPicPr preferRelativeResize="0"/>
          <p:nvPr/>
        </p:nvPicPr>
        <p:blipFill rotWithShape="1">
          <a:blip r:embed="rId5">
            <a:alphaModFix/>
          </a:blip>
          <a:srcRect b="0" l="0" r="0" t="0"/>
          <a:stretch/>
        </p:blipFill>
        <p:spPr>
          <a:xfrm>
            <a:off x="43694" y="2708508"/>
            <a:ext cx="1327906" cy="1995487"/>
          </a:xfrm>
          <a:prstGeom prst="rect">
            <a:avLst/>
          </a:prstGeom>
          <a:noFill/>
          <a:ln>
            <a:noFill/>
          </a:ln>
        </p:spPr>
      </p:pic>
      <p:cxnSp>
        <p:nvCxnSpPr>
          <p:cNvPr id="393" name="Google Shape;393;p20"/>
          <p:cNvCxnSpPr/>
          <p:nvPr/>
        </p:nvCxnSpPr>
        <p:spPr>
          <a:xfrm>
            <a:off x="1005386" y="4490504"/>
            <a:ext cx="1956641" cy="0"/>
          </a:xfrm>
          <a:prstGeom prst="straightConnector1">
            <a:avLst/>
          </a:prstGeom>
          <a:noFill/>
          <a:ln cap="flat" cmpd="sng" w="9525">
            <a:solidFill>
              <a:schemeClr val="dk1"/>
            </a:solidFill>
            <a:prstDash val="solid"/>
            <a:round/>
            <a:headEnd len="sm" w="sm" type="none"/>
            <a:tailEnd len="med" w="med" type="stealth"/>
          </a:ln>
        </p:spPr>
      </p:cxnSp>
      <p:sp>
        <p:nvSpPr>
          <p:cNvPr id="394" name="Google Shape;394;p20"/>
          <p:cNvSpPr txBox="1"/>
          <p:nvPr/>
        </p:nvSpPr>
        <p:spPr>
          <a:xfrm>
            <a:off x="211988" y="2057400"/>
            <a:ext cx="991318"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Phone data</a:t>
            </a:r>
            <a:endParaRPr/>
          </a:p>
        </p:txBody>
      </p:sp>
      <p:pic>
        <p:nvPicPr>
          <p:cNvPr descr="http://www.mylatestdistraction.com/mylatestdistraction/wp-content/uploads/2010/01/bumble_bee.png" id="395" name="Google Shape;395;p20"/>
          <p:cNvPicPr preferRelativeResize="0"/>
          <p:nvPr/>
        </p:nvPicPr>
        <p:blipFill rotWithShape="1">
          <a:blip r:embed="rId6">
            <a:alphaModFix/>
          </a:blip>
          <a:srcRect b="0" l="0" r="0" t="0"/>
          <a:stretch/>
        </p:blipFill>
        <p:spPr>
          <a:xfrm>
            <a:off x="3336752" y="2876536"/>
            <a:ext cx="673064" cy="564789"/>
          </a:xfrm>
          <a:prstGeom prst="rect">
            <a:avLst/>
          </a:prstGeom>
          <a:noFill/>
          <a:ln>
            <a:noFill/>
          </a:ln>
        </p:spPr>
      </p:pic>
      <p:pic>
        <p:nvPicPr>
          <p:cNvPr id="396" name="Google Shape;396;p20"/>
          <p:cNvPicPr preferRelativeResize="0"/>
          <p:nvPr/>
        </p:nvPicPr>
        <p:blipFill rotWithShape="1">
          <a:blip r:embed="rId7">
            <a:alphaModFix/>
          </a:blip>
          <a:srcRect b="0" l="0" r="0" t="0"/>
          <a:stretch/>
        </p:blipFill>
        <p:spPr>
          <a:xfrm>
            <a:off x="6443663" y="3794891"/>
            <a:ext cx="2547937" cy="1088500"/>
          </a:xfrm>
          <a:prstGeom prst="rect">
            <a:avLst/>
          </a:prstGeom>
          <a:noFill/>
          <a:ln>
            <a:noFill/>
          </a:ln>
        </p:spPr>
      </p:pic>
      <p:cxnSp>
        <p:nvCxnSpPr>
          <p:cNvPr id="397" name="Google Shape;397;p20"/>
          <p:cNvCxnSpPr/>
          <p:nvPr/>
        </p:nvCxnSpPr>
        <p:spPr>
          <a:xfrm rot="10800000">
            <a:off x="4184657" y="4490504"/>
            <a:ext cx="2178043" cy="0"/>
          </a:xfrm>
          <a:prstGeom prst="straightConnector1">
            <a:avLst/>
          </a:prstGeom>
          <a:noFill/>
          <a:ln cap="flat" cmpd="sng" w="9525">
            <a:solidFill>
              <a:schemeClr val="dk1"/>
            </a:solidFill>
            <a:prstDash val="solid"/>
            <a:round/>
            <a:headEnd len="sm" w="sm" type="none"/>
            <a:tailEnd len="med" w="med" type="stealth"/>
          </a:ln>
        </p:spPr>
      </p:cxnSp>
      <p:cxnSp>
        <p:nvCxnSpPr>
          <p:cNvPr id="398" name="Google Shape;398;p20"/>
          <p:cNvCxnSpPr>
            <a:stCxn id="388" idx="1"/>
          </p:cNvCxnSpPr>
          <p:nvPr/>
        </p:nvCxnSpPr>
        <p:spPr>
          <a:xfrm flipH="1">
            <a:off x="1166657" y="3771900"/>
            <a:ext cx="1951200" cy="23100"/>
          </a:xfrm>
          <a:prstGeom prst="straightConnector1">
            <a:avLst/>
          </a:prstGeom>
          <a:noFill/>
          <a:ln cap="flat" cmpd="sng" w="9525">
            <a:solidFill>
              <a:schemeClr val="dk1"/>
            </a:solidFill>
            <a:prstDash val="solid"/>
            <a:round/>
            <a:headEnd len="sm" w="sm" type="none"/>
            <a:tailEnd len="med" w="med" type="stealth"/>
          </a:ln>
        </p:spPr>
      </p:cxnSp>
      <p:sp>
        <p:nvSpPr>
          <p:cNvPr id="399" name="Google Shape;399;p20"/>
          <p:cNvSpPr txBox="1"/>
          <p:nvPr/>
        </p:nvSpPr>
        <p:spPr>
          <a:xfrm>
            <a:off x="1584419" y="3468469"/>
            <a:ext cx="1410059"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9. Store Bee’s Chest locally</a:t>
            </a:r>
            <a:endParaRPr/>
          </a:p>
        </p:txBody>
      </p:sp>
      <p:sp>
        <p:nvSpPr>
          <p:cNvPr id="400" name="Google Shape;400;p20"/>
          <p:cNvSpPr txBox="1"/>
          <p:nvPr/>
        </p:nvSpPr>
        <p:spPr>
          <a:xfrm rot="-1279776">
            <a:off x="962851" y="1169649"/>
            <a:ext cx="3958817"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10. When connected, send data to cloud.</a:t>
            </a:r>
            <a:endParaRPr/>
          </a:p>
        </p:txBody>
      </p:sp>
      <p:sp>
        <p:nvSpPr>
          <p:cNvPr id="401" name="Google Shape;401;p20"/>
          <p:cNvSpPr txBox="1"/>
          <p:nvPr/>
        </p:nvSpPr>
        <p:spPr>
          <a:xfrm rot="-1279776">
            <a:off x="916030" y="1679109"/>
            <a:ext cx="4189724"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11. When connected, send data to phone</a:t>
            </a:r>
            <a:endParaRPr/>
          </a:p>
        </p:txBody>
      </p:sp>
      <p:sp>
        <p:nvSpPr>
          <p:cNvPr id="402" name="Google Shape;402;p20"/>
          <p:cNvSpPr txBox="1"/>
          <p:nvPr/>
        </p:nvSpPr>
        <p:spPr>
          <a:xfrm>
            <a:off x="4298716" y="4139625"/>
            <a:ext cx="1827845"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7. Store LI data in Bee’s Chest</a:t>
            </a:r>
            <a:endParaRPr/>
          </a:p>
        </p:txBody>
      </p:sp>
      <p:sp>
        <p:nvSpPr>
          <p:cNvPr id="403" name="Google Shape;403;p20"/>
          <p:cNvSpPr txBox="1"/>
          <p:nvPr/>
        </p:nvSpPr>
        <p:spPr>
          <a:xfrm>
            <a:off x="1166633" y="4154269"/>
            <a:ext cx="1827845"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6. Store phone data in Bee’s Chest</a:t>
            </a:r>
            <a:endParaRPr/>
          </a:p>
        </p:txBody>
      </p:sp>
      <p:cxnSp>
        <p:nvCxnSpPr>
          <p:cNvPr id="404" name="Google Shape;404;p20"/>
          <p:cNvCxnSpPr/>
          <p:nvPr/>
        </p:nvCxnSpPr>
        <p:spPr>
          <a:xfrm flipH="1">
            <a:off x="1983706" y="4883391"/>
            <a:ext cx="1666474" cy="560124"/>
          </a:xfrm>
          <a:prstGeom prst="straightConnector1">
            <a:avLst/>
          </a:prstGeom>
          <a:noFill/>
          <a:ln cap="flat" cmpd="sng" w="9525">
            <a:solidFill>
              <a:schemeClr val="dk1"/>
            </a:solidFill>
            <a:prstDash val="solid"/>
            <a:round/>
            <a:headEnd len="sm" w="sm" type="none"/>
            <a:tailEnd len="med" w="med" type="stealth"/>
          </a:ln>
        </p:spPr>
      </p:cxnSp>
      <p:cxnSp>
        <p:nvCxnSpPr>
          <p:cNvPr id="405" name="Google Shape;405;p20"/>
          <p:cNvCxnSpPr/>
          <p:nvPr/>
        </p:nvCxnSpPr>
        <p:spPr>
          <a:xfrm rot="10800000">
            <a:off x="4184657" y="3468469"/>
            <a:ext cx="2074475" cy="573021"/>
          </a:xfrm>
          <a:prstGeom prst="straightConnector1">
            <a:avLst/>
          </a:prstGeom>
          <a:noFill/>
          <a:ln cap="flat" cmpd="sng" w="9525">
            <a:solidFill>
              <a:srgbClr val="C00000"/>
            </a:solidFill>
            <a:prstDash val="solid"/>
            <a:round/>
            <a:headEnd len="sm" w="sm" type="stealth"/>
            <a:tailEnd len="med" w="med" type="stealth"/>
          </a:ln>
        </p:spPr>
      </p:cxnSp>
      <p:sp>
        <p:nvSpPr>
          <p:cNvPr id="406" name="Google Shape;406;p20"/>
          <p:cNvSpPr txBox="1"/>
          <p:nvPr/>
        </p:nvSpPr>
        <p:spPr>
          <a:xfrm rot="990505">
            <a:off x="4304417" y="3494946"/>
            <a:ext cx="2269332"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2&amp;4. LI User Registration</a:t>
            </a:r>
            <a:endParaRPr/>
          </a:p>
          <a:p>
            <a:pPr indent="0" lvl="0" marL="0" marR="0" rtl="0" algn="ctr">
              <a:spcBef>
                <a:spcPts val="0"/>
              </a:spcBef>
              <a:spcAft>
                <a:spcPts val="0"/>
              </a:spcAft>
              <a:buNone/>
            </a:pPr>
            <a:r>
              <a:rPr lang="en-US" sz="1600">
                <a:solidFill>
                  <a:schemeClr val="dk1"/>
                </a:solidFill>
                <a:latin typeface="Calibri"/>
                <a:ea typeface="Calibri"/>
                <a:cs typeface="Calibri"/>
                <a:sym typeface="Calibri"/>
              </a:rPr>
              <a:t>Or auto register</a:t>
            </a:r>
            <a:endParaRPr/>
          </a:p>
        </p:txBody>
      </p:sp>
      <p:sp>
        <p:nvSpPr>
          <p:cNvPr id="407" name="Google Shape;407;p20"/>
          <p:cNvSpPr txBox="1"/>
          <p:nvPr/>
        </p:nvSpPr>
        <p:spPr>
          <a:xfrm rot="-521494">
            <a:off x="4458979" y="2025496"/>
            <a:ext cx="2409566"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5. New user stored on web service</a:t>
            </a:r>
            <a:endParaRPr/>
          </a:p>
        </p:txBody>
      </p:sp>
      <p:cxnSp>
        <p:nvCxnSpPr>
          <p:cNvPr id="408" name="Google Shape;408;p20"/>
          <p:cNvCxnSpPr>
            <a:endCxn id="394" idx="3"/>
          </p:cNvCxnSpPr>
          <p:nvPr/>
        </p:nvCxnSpPr>
        <p:spPr>
          <a:xfrm flipH="1">
            <a:off x="1203306" y="914287"/>
            <a:ext cx="3564600" cy="1435500"/>
          </a:xfrm>
          <a:prstGeom prst="straightConnector1">
            <a:avLst/>
          </a:prstGeom>
          <a:noFill/>
          <a:ln cap="flat" cmpd="sng" w="9525">
            <a:solidFill>
              <a:srgbClr val="C00000"/>
            </a:solidFill>
            <a:prstDash val="solid"/>
            <a:round/>
            <a:headEnd len="sm" w="sm" type="stealth"/>
            <a:tailEnd len="med" w="med" type="stealth"/>
          </a:ln>
        </p:spPr>
      </p:cxnSp>
      <p:cxnSp>
        <p:nvCxnSpPr>
          <p:cNvPr id="409" name="Google Shape;409;p20"/>
          <p:cNvCxnSpPr/>
          <p:nvPr/>
        </p:nvCxnSpPr>
        <p:spPr>
          <a:xfrm flipH="1" rot="10800000">
            <a:off x="4184657" y="2163741"/>
            <a:ext cx="2749543" cy="467465"/>
          </a:xfrm>
          <a:prstGeom prst="straightConnector1">
            <a:avLst/>
          </a:prstGeom>
          <a:noFill/>
          <a:ln cap="flat" cmpd="sng" w="9525">
            <a:solidFill>
              <a:schemeClr val="dk1"/>
            </a:solidFill>
            <a:prstDash val="solid"/>
            <a:round/>
            <a:headEnd len="sm" w="sm" type="none"/>
            <a:tailEnd len="med" w="med" type="stealth"/>
          </a:ln>
        </p:spPr>
      </p:cxnSp>
      <p:pic>
        <p:nvPicPr>
          <p:cNvPr id="410" name="Google Shape;410;p20"/>
          <p:cNvPicPr preferRelativeResize="0"/>
          <p:nvPr/>
        </p:nvPicPr>
        <p:blipFill rotWithShape="1">
          <a:blip r:embed="rId8">
            <a:alphaModFix/>
          </a:blip>
          <a:srcRect b="0" l="0" r="0" t="0"/>
          <a:stretch/>
        </p:blipFill>
        <p:spPr>
          <a:xfrm>
            <a:off x="7239000" y="1279588"/>
            <a:ext cx="1334225" cy="1177914"/>
          </a:xfrm>
          <a:prstGeom prst="rect">
            <a:avLst/>
          </a:prstGeom>
          <a:noFill/>
          <a:ln>
            <a:noFill/>
          </a:ln>
        </p:spPr>
      </p:pic>
      <p:cxnSp>
        <p:nvCxnSpPr>
          <p:cNvPr id="411" name="Google Shape;411;p20"/>
          <p:cNvCxnSpPr>
            <a:endCxn id="391" idx="3"/>
          </p:cNvCxnSpPr>
          <p:nvPr/>
        </p:nvCxnSpPr>
        <p:spPr>
          <a:xfrm rot="10800000">
            <a:off x="6362700" y="646888"/>
            <a:ext cx="1406400" cy="434100"/>
          </a:xfrm>
          <a:prstGeom prst="straightConnector1">
            <a:avLst/>
          </a:prstGeom>
          <a:noFill/>
          <a:ln cap="flat" cmpd="sng" w="9525">
            <a:solidFill>
              <a:schemeClr val="dk1"/>
            </a:solidFill>
            <a:prstDash val="solid"/>
            <a:round/>
            <a:headEnd len="sm" w="sm" type="none"/>
            <a:tailEnd len="med" w="med" type="stealth"/>
          </a:ln>
        </p:spPr>
      </p:cxnSp>
      <p:sp>
        <p:nvSpPr>
          <p:cNvPr id="412" name="Google Shape;412;p20"/>
          <p:cNvSpPr txBox="1"/>
          <p:nvPr/>
        </p:nvSpPr>
        <p:spPr>
          <a:xfrm rot="1058016">
            <a:off x="6172077" y="595108"/>
            <a:ext cx="2409566"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12. Web = Mobile APP</a:t>
            </a:r>
            <a:endParaRPr/>
          </a:p>
        </p:txBody>
      </p:sp>
      <p:sp>
        <p:nvSpPr>
          <p:cNvPr id="413" name="Google Shape;413;p20"/>
          <p:cNvSpPr txBox="1"/>
          <p:nvPr/>
        </p:nvSpPr>
        <p:spPr>
          <a:xfrm>
            <a:off x="6734434" y="2440101"/>
            <a:ext cx="2409566"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u="sng">
                <a:solidFill>
                  <a:schemeClr val="hlink"/>
                </a:solidFill>
                <a:latin typeface="Calibri"/>
                <a:ea typeface="Calibri"/>
                <a:cs typeface="Calibri"/>
                <a:sym typeface="Calibri"/>
                <a:hlinkClick r:id="rId9"/>
              </a:rPr>
              <a:t>www.beeschest.com</a:t>
            </a:r>
            <a:endParaRPr sz="1600">
              <a:solidFill>
                <a:schemeClr val="dk1"/>
              </a:solidFill>
              <a:latin typeface="Calibri"/>
              <a:ea typeface="Calibri"/>
              <a:cs typeface="Calibri"/>
              <a:sym typeface="Calibri"/>
            </a:endParaRPr>
          </a:p>
          <a:p>
            <a:pPr indent="0" lvl="0" marL="0" marR="0" rtl="0" algn="ctr">
              <a:spcBef>
                <a:spcPts val="0"/>
              </a:spcBef>
              <a:spcAft>
                <a:spcPts val="0"/>
              </a:spcAft>
              <a:buNone/>
            </a:pPr>
            <a:r>
              <a:rPr lang="en-US" sz="1600">
                <a:solidFill>
                  <a:schemeClr val="dk1"/>
                </a:solidFill>
                <a:latin typeface="Calibri"/>
                <a:ea typeface="Calibri"/>
                <a:cs typeface="Calibri"/>
                <a:sym typeface="Calibri"/>
              </a:rPr>
              <a:t>13. Download app</a:t>
            </a:r>
            <a:endParaRPr/>
          </a:p>
        </p:txBody>
      </p:sp>
      <p:sp>
        <p:nvSpPr>
          <p:cNvPr id="414" name="Google Shape;414;p20"/>
          <p:cNvSpPr txBox="1"/>
          <p:nvPr/>
        </p:nvSpPr>
        <p:spPr>
          <a:xfrm>
            <a:off x="211988" y="184666"/>
            <a:ext cx="1771718"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Architecture</a:t>
            </a:r>
            <a:endParaRPr b="1" sz="1800">
              <a:solidFill>
                <a:schemeClr val="dk1"/>
              </a:solidFill>
              <a:latin typeface="Calibri"/>
              <a:ea typeface="Calibri"/>
              <a:cs typeface="Calibri"/>
              <a:sym typeface="Calibri"/>
            </a:endParaRPr>
          </a:p>
        </p:txBody>
      </p:sp>
      <p:sp>
        <p:nvSpPr>
          <p:cNvPr id="415" name="Google Shape;415;p20"/>
          <p:cNvSpPr txBox="1"/>
          <p:nvPr/>
        </p:nvSpPr>
        <p:spPr>
          <a:xfrm>
            <a:off x="-4362768" y="378181"/>
            <a:ext cx="4419600" cy="67403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 Bee’s Chest is loaded on the phone.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2. Registration  requests LI for permission.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3.Then profile exists on phone.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4. If no registration, then Bee’sChest offers auto LI registration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5. Bee’sChest can have its own profile if user doesn’t want LI</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6. Known phone data is on the phone and integrated with Bee’s Chest.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7. Bee’s Chest pulls fields from LI.</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8. Bee’s Chest matches phone data with LI  dataset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Bee’s Chest loads different screens from local phone data.  For the game and tagging, this opens communication with the server to feed in profiles and tags.  When user stops game, data stores locally and then transfers changes to server.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9. Phone loads app synchronized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10. Phone loads newest data to cloud.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11. Cloud sends newest updates in network to phone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12. Web Service and Server update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13. App sits in app store</a:t>
            </a:r>
            <a:endParaRPr/>
          </a:p>
        </p:txBody>
      </p:sp>
      <p:sp>
        <p:nvSpPr>
          <p:cNvPr id="416" name="Google Shape;416;p20"/>
          <p:cNvSpPr txBox="1"/>
          <p:nvPr/>
        </p:nvSpPr>
        <p:spPr>
          <a:xfrm rot="-983433">
            <a:off x="1965086" y="4911466"/>
            <a:ext cx="1410059"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8. Data matched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p21"/>
          <p:cNvPicPr preferRelativeResize="0"/>
          <p:nvPr/>
        </p:nvPicPr>
        <p:blipFill rotWithShape="1">
          <a:blip r:embed="rId3">
            <a:alphaModFix/>
          </a:blip>
          <a:srcRect b="0" l="33440" r="32630" t="0"/>
          <a:stretch/>
        </p:blipFill>
        <p:spPr>
          <a:xfrm>
            <a:off x="725214" y="1066800"/>
            <a:ext cx="2188781" cy="4838700"/>
          </a:xfrm>
          <a:prstGeom prst="rect">
            <a:avLst/>
          </a:prstGeom>
          <a:noFill/>
          <a:ln>
            <a:noFill/>
          </a:ln>
        </p:spPr>
      </p:pic>
      <p:pic>
        <p:nvPicPr>
          <p:cNvPr id="422" name="Google Shape;422;p21"/>
          <p:cNvPicPr preferRelativeResize="0"/>
          <p:nvPr/>
        </p:nvPicPr>
        <p:blipFill rotWithShape="1">
          <a:blip r:embed="rId4">
            <a:alphaModFix/>
          </a:blip>
          <a:srcRect b="0" l="20939" r="22891" t="0"/>
          <a:stretch/>
        </p:blipFill>
        <p:spPr>
          <a:xfrm>
            <a:off x="2895602" y="139851"/>
            <a:ext cx="2819400" cy="3346299"/>
          </a:xfrm>
          <a:prstGeom prst="rect">
            <a:avLst/>
          </a:prstGeom>
          <a:noFill/>
          <a:ln>
            <a:noFill/>
          </a:ln>
        </p:spPr>
      </p:pic>
      <p:pic>
        <p:nvPicPr>
          <p:cNvPr id="423" name="Google Shape;423;p21"/>
          <p:cNvPicPr preferRelativeResize="0"/>
          <p:nvPr/>
        </p:nvPicPr>
        <p:blipFill rotWithShape="1">
          <a:blip r:embed="rId5">
            <a:alphaModFix/>
          </a:blip>
          <a:srcRect b="0" l="0" r="0" t="0"/>
          <a:stretch/>
        </p:blipFill>
        <p:spPr>
          <a:xfrm>
            <a:off x="3429000" y="3036832"/>
            <a:ext cx="5496128" cy="336396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